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신청</c:v>
                </c:pt>
              </c:strCache>
            </c:strRef>
          </c:tx>
          <c:spPr>
            <a:solidFill>
              <a:srgbClr val="B8B6B0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  <c:pt idx="8">
                    <c:v>2022</c:v>
                  </c:pt>
                  <c:pt idx="9">
                    <c:v>2023</c:v>
                  </c:pt>
                  <c:pt idx="10">
                    <c:v>2024</c:v>
                  </c:pt>
                  <c:pt idx="11">
                    <c:v>2025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111</c:v>
                </c:pt>
                <c:pt idx="1">
                  <c:v>506</c:v>
                </c:pt>
                <c:pt idx="2">
                  <c:v>284</c:v>
                </c:pt>
                <c:pt idx="3">
                  <c:v>308</c:v>
                </c:pt>
                <c:pt idx="4">
                  <c:v>301</c:v>
                </c:pt>
                <c:pt idx="5">
                  <c:v>223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92</c:v>
                </c:pt>
                <c:pt idx="10">
                  <c:v>105</c:v>
                </c:pt>
                <c:pt idx="11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급감 구간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  <c:pt idx="8">
                    <c:v>2022</c:v>
                  </c:pt>
                  <c:pt idx="9">
                    <c:v>2023</c:v>
                  </c:pt>
                  <c:pt idx="10">
                    <c:v>2024</c:v>
                  </c:pt>
                  <c:pt idx="11">
                    <c:v>2025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308</c:v>
                </c:pt>
                <c:pt idx="7">
                  <c:v>163</c:v>
                </c:pt>
                <c:pt idx="8">
                  <c:v>72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90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</c:v>
                </c:pt>
              </c:strCache>
            </c:strRef>
          </c:tx>
          <c:spPr>
            <a:solidFill>
              <a:srgbClr val="B8B6B0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2015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2025*</c:v>
                  </c:pt>
                  <c:pt idx="8">
                    <c:v>2026*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11253</c:v>
                </c:pt>
                <c:pt idx="1">
                  <c:v>9345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3910</c:v>
                </c:pt>
                <c:pt idx="6">
                  <c:v>3812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급감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2015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2025*</c:v>
                  </c:pt>
                  <c:pt idx="8">
                    <c:v>2026*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6648</c:v>
                </c:pt>
                <c:pt idx="3">
                  <c:v>4776</c:v>
                </c:pt>
                <c:pt idx="4">
                  <c:v>3397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신뢰 낮음</c:v>
                </c:pt>
              </c:strCache>
            </c:strRef>
          </c:tx>
          <c:spPr>
            <a:solidFill>
              <a:srgbClr val="E3E8EA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2015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2025*</c:v>
                  </c:pt>
                  <c:pt idx="8">
                    <c:v>2026*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8887</c:v>
                </c:pt>
                <c:pt idx="8">
                  <c:v>8799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90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네이버 검색</c:v>
                </c:pt>
              </c:strCache>
            </c:strRef>
          </c:tx>
          <c:spPr>
            <a:solidFill>
              <a:srgbClr val="2A78D6"/>
            </a:solidFill>
            <a:ln w="28575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2016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2024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4902</c:v>
                </c:pt>
                <c:pt idx="1">
                  <c:v>2980</c:v>
                </c:pt>
                <c:pt idx="2">
                  <c:v>2220</c:v>
                </c:pt>
                <c:pt idx="3">
                  <c:v>1193</c:v>
                </c:pt>
                <c:pt idx="4">
                  <c:v>1028</c:v>
                </c:pt>
                <c:pt idx="5">
                  <c:v>1278</c:v>
                </c:pt>
                <c:pt idx="6">
                  <c:v>776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네이버 광고</c:v>
                </c:pt>
              </c:strCache>
            </c:strRef>
          </c:tx>
          <c:spPr>
            <a:solidFill>
              <a:srgbClr val="EDA100"/>
            </a:solidFill>
            <a:ln w="28575" cap="flat">
              <a:solidFill>
                <a:srgbClr val="EDA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2016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2024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296</c:v>
                </c:pt>
                <c:pt idx="1">
                  <c:v>326</c:v>
                </c:pt>
                <c:pt idx="2">
                  <c:v>472</c:v>
                </c:pt>
                <c:pt idx="3">
                  <c:v>368</c:v>
                </c:pt>
                <c:pt idx="4">
                  <c:v>283</c:v>
                </c:pt>
                <c:pt idx="5">
                  <c:v>334</c:v>
                </c:pt>
                <c:pt idx="6">
                  <c:v>203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다음</c:v>
                </c:pt>
              </c:strCache>
            </c:strRef>
          </c:tx>
          <c:spPr>
            <a:solidFill>
              <a:srgbClr val="1BAF7A"/>
            </a:solidFill>
            <a:ln w="28575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2016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2024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1267</c:v>
                </c:pt>
                <c:pt idx="1">
                  <c:v>955</c:v>
                </c:pt>
                <c:pt idx="2">
                  <c:v>644</c:v>
                </c:pt>
                <c:pt idx="3">
                  <c:v>273</c:v>
                </c:pt>
                <c:pt idx="4">
                  <c:v>7</c:v>
                </c:pt>
                <c:pt idx="5">
                  <c:v>59</c:v>
                </c:pt>
                <c:pt idx="6">
                  <c:v>131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네이버 블로그</c:v>
                </c:pt>
              </c:strCache>
            </c:strRef>
          </c:tx>
          <c:spPr>
            <a:solidFill>
              <a:srgbClr val="EB6834"/>
            </a:solidFill>
            <a:ln w="28575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2016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2024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2555</c:v>
                </c:pt>
                <c:pt idx="1">
                  <c:v>764</c:v>
                </c:pt>
                <c:pt idx="2">
                  <c:v>600</c:v>
                </c:pt>
                <c:pt idx="3">
                  <c:v>118</c:v>
                </c:pt>
                <c:pt idx="4">
                  <c:v>43</c:v>
                </c:pt>
                <c:pt idx="5">
                  <c:v>42</c:v>
                </c:pt>
                <c:pt idx="6">
                  <c:v>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"/>
        </c:scaling>
        <c:delete val="0"/>
        <c:axPos val="l"/>
        <c:majorGridlines>
          <c:spPr>
            <a:ln w="6350" cap="flat">
              <a:solidFill>
                <a:srgbClr val="E6E5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0B0B0B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글 수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  <c:pt idx="8">
                    <c:v>2022</c:v>
                  </c:pt>
                  <c:pt idx="9">
                    <c:v>2023</c:v>
                  </c:pt>
                  <c:pt idx="10">
                    <c:v>2024</c:v>
                  </c:pt>
                  <c:pt idx="11">
                    <c:v>2025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139</c:v>
                </c:pt>
                <c:pt idx="1">
                  <c:v>242</c:v>
                </c:pt>
                <c:pt idx="2">
                  <c:v>238</c:v>
                </c:pt>
                <c:pt idx="3">
                  <c:v>264</c:v>
                </c:pt>
                <c:pt idx="4">
                  <c:v>165</c:v>
                </c:pt>
                <c:pt idx="5">
                  <c:v>180</c:v>
                </c:pt>
                <c:pt idx="6">
                  <c:v>318</c:v>
                </c:pt>
                <c:pt idx="7">
                  <c:v>322</c:v>
                </c:pt>
                <c:pt idx="8">
                  <c:v>248</c:v>
                </c:pt>
                <c:pt idx="9">
                  <c:v>219</c:v>
                </c:pt>
                <c:pt idx="10">
                  <c:v>206</c:v>
                </c:pt>
                <c:pt idx="11">
                  <c:v>183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구체적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#&quot;%&quot;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심사관 출신 (11)</c:v>
                  </c:pt>
                  <c:pt idx="1">
                    <c:v>지역명 (69)</c:v>
                  </c:pt>
                  <c:pt idx="2">
                    <c:v>기술 분야 (59)</c:v>
                  </c:pt>
                  <c:pt idx="3">
                    <c:v>방법·절차·비용 (24)</c:v>
                  </c:pt>
                  <c:pt idx="4">
                    <c:v>상표 (6)</c:v>
                  </c:pt>
                  <c:pt idx="5">
                    <c:v>분쟁 (21)</c:v>
                  </c:pt>
                  <c:pt idx="6">
                    <c:v>일반: 특허·변리사·특허사무소 (166)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1.9</c:v>
                </c:pt>
                <c:pt idx="2">
                  <c:v>1.7</c:v>
                </c:pt>
                <c:pt idx="3">
                  <c:v>0.6</c:v>
                </c:pt>
                <c:pt idx="4">
                  <c:v>0.6</c:v>
                </c:pt>
                <c:pt idx="5">
                  <c:v>0.33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일반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#&quot;%&quot;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심사관 출신 (11)</c:v>
                  </c:pt>
                  <c:pt idx="1">
                    <c:v>지역명 (69)</c:v>
                  </c:pt>
                  <c:pt idx="2">
                    <c:v>기술 분야 (59)</c:v>
                  </c:pt>
                  <c:pt idx="3">
                    <c:v>방법·절차·비용 (24)</c:v>
                  </c:pt>
                  <c:pt idx="4">
                    <c:v>상표 (6)</c:v>
                  </c:pt>
                  <c:pt idx="5">
                    <c:v>분쟁 (21)</c:v>
                  </c:pt>
                  <c:pt idx="6">
                    <c:v>일반: 특허·변리사·특허사무소 (166)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0.12</c:v>
                </c:pt>
              </c:numCache>
            </c:numRef>
          </c:val>
        </c:ser>
        <c:dLbls>
          <c:numFmt formatCode="0.0#&quot;%&quot;;;;" sourceLinked="0"/>
          <c:txPr>
            <a:bodyPr/>
            <a:lstStyle/>
            <a:p>
              <a:pPr>
                <a:defRPr b="0" i="0" strike="noStrike" sz="100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8B6B0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광고비 134만 → 73만 원</c:v>
                  </c:pt>
                  <c:pt idx="1">
                    <c:v>클릭 671 → 388</c:v>
                  </c:pt>
                  <c:pt idx="2">
                    <c:v>클릭당 1,993 → 1,891원</c:v>
                  </c:pt>
                  <c:pt idx="3">
                    <c:v>신청 18 → 15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광고비 134만 → 73만 원</c:v>
                  </c:pt>
                  <c:pt idx="1">
                    <c:v>클릭 671 → 388</c:v>
                  </c:pt>
                  <c:pt idx="2">
                    <c:v>클릭당 1,993 → 1,891원</c:v>
                  </c:pt>
                  <c:pt idx="3">
                    <c:v>신청 18 → 15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58</c:v>
                </c:pt>
                <c:pt idx="2">
                  <c:v>95</c:v>
                </c:pt>
                <c:pt idx="3">
                  <c:v>83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10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5초 안에 나감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기술 (21)</c:v>
                  </c:pt>
                  <c:pt idx="1">
                    <c:v>방법·비용 (12)</c:v>
                  </c:pt>
                  <c:pt idx="2">
                    <c:v>일반 (36)</c:v>
                  </c:pt>
                  <c:pt idx="3">
                    <c:v>지방 (24)</c:v>
                  </c:pt>
                  <c:pt idx="4">
                    <c:v>분쟁 (14)</c:v>
                  </c:pt>
                  <c:pt idx="5">
                    <c:v>전체 (120)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33</c:v>
                </c:pt>
                <c:pt idx="2">
                  <c:v>31</c:v>
                </c:pt>
                <c:pt idx="3">
                  <c:v>29</c:v>
                </c:pt>
                <c:pt idx="4">
                  <c:v>36</c:v>
                </c:pt>
                <c:pt idx="5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30초 넘게 머묾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기술 (21)</c:v>
                  </c:pt>
                  <c:pt idx="1">
                    <c:v>방법·비용 (12)</c:v>
                  </c:pt>
                  <c:pt idx="2">
                    <c:v>일반 (36)</c:v>
                  </c:pt>
                  <c:pt idx="3">
                    <c:v>지방 (24)</c:v>
                  </c:pt>
                  <c:pt idx="4">
                    <c:v>분쟁 (14)</c:v>
                  </c:pt>
                  <c:pt idx="5">
                    <c:v>전체 (120)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38</c:v>
                </c:pt>
                <c:pt idx="1">
                  <c:v>50</c:v>
                </c:pt>
                <c:pt idx="2">
                  <c:v>36</c:v>
                </c:pt>
                <c:pt idx="3">
                  <c:v>21</c:v>
                </c:pt>
                <c:pt idx="4">
                  <c:v>14</c:v>
                </c:pt>
                <c:pt idx="5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3716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특허사무소 무료진단 신청 회복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20116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랜딩 사이트·광고 개선 — 데이터 분석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2651760"/>
            <a:ext cx="548640" cy="45720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28346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 </a:t>
            </a:r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특허사무소 무료진단 랜딩 사이트의 방문자수 분석, 광고 데이터 분석 → 랜딩 사이트 개선, 광고 개선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2062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민다인 · 2026-10-16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2062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매출 = 방문수 × 방문당 신청률 × 수임 전환율 × 수임당 매출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1943100" cy="219456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6687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방문수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354580" y="1417320"/>
            <a:ext cx="182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37460" y="1417320"/>
            <a:ext cx="1943100" cy="219456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4620" y="1417320"/>
            <a:ext cx="16687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방문당 신청률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417320"/>
            <a:ext cx="182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1943100" cy="219456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417320"/>
            <a:ext cx="16687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수임 전환율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06540" y="1417320"/>
            <a:ext cx="182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89420" y="1417320"/>
            <a:ext cx="1943100" cy="219456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26580" y="1417320"/>
            <a:ext cx="16687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수임당 매출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2062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신청은 2년 만에 4분의 1이 됐다: 308건(2020) → 72건(2022)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38328" y="1243584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05840"/>
            <a:ext cx="3154680" cy="109728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15000" y="109728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기간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715000" y="133502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308건 → 72건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177393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577840" y="2194560"/>
            <a:ext cx="3154680" cy="109728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15000" y="228600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임팩트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715000" y="252374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6,000만~1.2억 원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9626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200건 감소 × 수임 10~20% × 수수료 300만 원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77840" y="3383280"/>
            <a:ext cx="3154680" cy="109728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15000" y="347472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715000" y="37124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150건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415137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관리자 페이지 문자 전송내역 2014-11 ~ 2026-10-05 · 전처리: 2,895건 → 스팸 254건 제외 2,641건. 수임률·수수료는 변리사 답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방문자수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2062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방문은 2015년부터 꾸준히 감소, 신청 급감 구간에 절반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9875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봇을 뺀 실제 방문 추정, 명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38328" y="1243584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577840" y="10058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28016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IP는 하루 1회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 = OS "Robot"·"Linux" 방문을 뺌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2021-10부터 방문이 월 900 → 2,100인데 신청은 월 12 → 5. 급증분은 전부 유입 경로 없는 "직접", 시간대 0~23시 고름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*2025 신뢰 낮음: Robot 8,848 급증, Chrome도 두 배인데 신청은 그대로 → Chrome인 척하는 자동 접속 추정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관리자 페이지 접속자통계, 연도별·OS별 방문자 2015 ~ 2026. 2016·17·19년은 OS 자료 없음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1-1. 유입경로별 방문자수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2062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끊긴 것은 다음·블로그·네이버 검색. 광고는 가장 덜 줄었다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98755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경로별 연간 방문 (서버 기록, "직접" 제외. 출처를 놓치는 경우가 많아 추이로만 봄)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2103120" cy="2148840"/>
          </a:xfrm>
          <a:prstGeom prst="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0" y="124358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급감 구간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243584"/>
          <a:ext cx="84582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11480" y="37490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 → 2022:   네이버 광고 −40%  ·  네이버 검색 −54%  ·  네이버 블로그 −93%  ·  다음 −99%  ·  신청 −77%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관리자 페이지 접속자통계, 유입 도메인별 방문 2016 ~ 2026-10-06 · 전처리: "직접"(봇 대부분) 제외. 감소율은 2020 → 2022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1-1. 유입경로별 방문자수 — GA4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2062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GA4로 다시 본 28일: 세션 215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98755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2026-09-18 ~ 10-15, 세션 기본 채널 그룹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1517904" cy="137160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4173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05740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Organic Search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3317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네이버·구글 검색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12264" y="1325880"/>
            <a:ext cx="1517904" cy="137160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12264" y="14173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112264" y="205740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12264" y="23317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13048" y="1325880"/>
            <a:ext cx="1517904" cy="137160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13048" y="14173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813048" y="205740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Paid Search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813048" y="23317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광고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13832" y="1325880"/>
            <a:ext cx="1517904" cy="137160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13832" y="14173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5513832" y="205740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Organic Social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513832" y="23317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블로그 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14616" y="1325880"/>
            <a:ext cx="1517904" cy="137160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14616" y="14173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7214616" y="205740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Referral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214616" y="23317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사이트 링크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11480" y="288036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" y="315468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옛 사이트가 http라 네이버(https)에서 올 때 출처(리퍼러 쪽지)가 빠져 "직접"으로 잘못 분류됨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10-06 전엔 광고 링크에 UTM이 없어 광고가 Organic Search로 들어감 (10-06 수정)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GA4 트래픽 획득 보고서 2026-09-18 ~ 10-15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1-2. 다음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2062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광고·등록 중단 — 2021-05이면 신청이 처음 꺾인 달과 일치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재개하면: 예상 비용 vs 추가 매출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8321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931920"/>
                <a:gridCol w="2926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되찾을 방문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2020년 644 − 지금 131 (2026, 10-06까지)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약 513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513 × 방문당 신청률 4.6%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24건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24건 × 수임률 10~20%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2~5건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매출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2~5건 × 출원 수수료 300만 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700만~1,400만 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513클릭 × 네이버 클릭당 1,891원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약 97만 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손익분기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÷ 513클릭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클릭당 14,000~28,000원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11480" y="3520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단가는 미확인. 네이버의 7배를 넘지 않으면 이득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11480" y="3913632"/>
            <a:ext cx="8321040" cy="402336"/>
          </a:xfrm>
          <a:prstGeom prst="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91363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item   </a:t>
            </a:r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다음(카카오) 광고·등록 재개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접속자통계 유입 도메인별 방문(다음 2020년 644, 2026년 131), 신청률·수임률·수수료는 2장·변리사 답, 클릭당 비용은 네이버 광고 90일. 다음 중단은 변리사 답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1-3. 블로그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2062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글은 계속 썼는데 블로그에서 오는 방문은 끊겼다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9875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연도별 블로그 글 수(건)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38328" y="1243584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11480" y="1005840"/>
            <a:ext cx="8321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05156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블로그에서 온 방문: 2,555(2016) → 600(2020) → 118(2021) → 43(2022)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글의 성격: 승소율·FAQ·제도 안내 — 읽을 글 → 등록/승소 리스트 (2015 이후 계속)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노출 방식 변화: 2016 C-Rank, 2018 VIEW, 2021-10 스마트블록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" y="3913632"/>
            <a:ext cx="8321040" cy="402336"/>
          </a:xfrm>
          <a:prstGeom prst="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91363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item   </a:t>
            </a:r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읽을 내용이 있는 글로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사무소 네이버 블로그 글 목록 2,736건(공개 RSS·글 목록) 2014 ~ 2026, 접속자통계 유입 도메인별 방문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1-4. 네이버 검색 · 1-5. 네이버 광고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2062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검색은 사이트가 못 읽히는 문제, 광고는 남은 방문의 3분의 2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3977640" cy="269748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검색  −54%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쪽: 글자가 전부 이미지라 검색엔진이 못 읽음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리뉴얼로 글자를 텍스트로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77640" cy="269748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188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8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광고  −40%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4592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옛 사이트 세션(1개월) 약 180, 그중 광고 주소로 온 방문 120 (GA4)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기기: 신청 페이지 142명 중 모바일 62 (44%)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3291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장에서 광고 검색어를 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접속자통계 유입 도메인별 방문, GA4 2026-09-02 ~ 10-01 · 전처리: GA4는 작업자 접속이 섞인 "직접" 69세션 제외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1-6. 광고 키워드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2062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 유형별 클릭률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98755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괄호는 90일 클릭 수 · 클릭당 비용은 유형과 상관없이 2,000원 안팎 (지역명만 706원)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243584"/>
          <a:ext cx="7772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네이버 검색광고 검색어 보고서 2026-07-06 ~ 10-03(90일) · 전처리: 27,277행, 보고서 제목 줄 제거. 검색어 9,383개를 글자 규칙으로 유형 분류(클릭 난 231개는 검산)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1-6. 광고 키워드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2062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작년 정리로 광고비 −45%에 신청은 −17%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98755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작년 정리 전후, 같은 90일. 2025년을 100으로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68680" y="1243584"/>
          <a:ext cx="7406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네이버 검색광고 보고서 2025-07-02 ~ 09-29, 2026-07-06 ~ 10-03. 신청은 같은 기간 신청 게시판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방문당 신청률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2062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신청률 4.6% → 2.1%. 광고로 온 4명 중 1명은 5초 안에 나간다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98755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GA4 광고 유입 120건의 검색어 유형별 체류(%) · 괄호는 사람 수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243584"/>
          <a:ext cx="77724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913632"/>
            <a:ext cx="8321040" cy="402336"/>
          </a:xfrm>
          <a:prstGeom prst="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91363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item   </a:t>
            </a:r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18초 안에 "누가·무엇을·무료로", 읽기 끝에 간편 신청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신청률 = 알림 문자 신청 ÷ 봇을 뺀 실제 방문(2020 6,648, 2022 3,397). 체류는 GA4 2026-09-02 ~ 10-01, 광고 주소로 온 120세션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수임 전환율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2062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수임 전환율은 기록이 없다 — 신청 뒤는 전화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972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보완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3977640" cy="210312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유입 → 키워드광고 유입 신청자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전환 추적 코드 설치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→ 승인 → 설치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77640" cy="210312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전화로 바로 거는 사람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01168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번호 클릭 기록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전용 착신 번호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913632"/>
            <a:ext cx="8321040" cy="402336"/>
          </a:xfrm>
          <a:prstGeom prst="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91363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item   </a:t>
            </a:r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신청마다 수임 여부 기록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변리사 답(진단은 간편·상세 모두 전화, 수임 10~20%는 기억에 의한 값)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수임당 매출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2062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분쟁은 신청의 6%지만 수수료는 출원의 7배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3977640" cy="109728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출원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1790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300만 원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568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신청의 94% (2,021건)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77640" cy="1097280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28016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51790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2,000만 원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9568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신청의 6% (120건)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743200"/>
            <a:ext cx="8321040" cy="402336"/>
          </a:xfrm>
          <a:prstGeom prst="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4320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item   </a:t>
            </a:r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 페이지를 리뉴얼 우선순위에, 폼보다 전화 → 분쟁 광고는 줄이지 않음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DFE3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신청 게시판 2,174건 분류 · 전처리: 스팸 10건·휴대폰 형식 아님 23건 제외 → 2,141건. 수수료는 변리사 답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514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특허사무소 무료진단 신청 회복 — 랜딩 사이트·광고 개선</dc:title>
  <dc:subject>PptxGenJS Presentation</dc:subject>
  <dc:creator>PptxGenJS</dc:creator>
  <cp:lastModifiedBy>PptxGenJS</cp:lastModifiedBy>
  <cp:revision>1</cp:revision>
  <dcterms:created xsi:type="dcterms:W3CDTF">2026-10-16T05:01:48Z</dcterms:created>
  <dcterms:modified xsi:type="dcterms:W3CDTF">2026-10-16T05:01:48Z</dcterms:modified>
</cp:coreProperties>
</file>