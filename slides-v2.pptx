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신청</c:v>
                </c:pt>
              </c:strCache>
            </c:strRef>
          </c:tx>
          <c:spPr>
            <a:solidFill>
              <a:srgbClr val="B8B6B0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B0B0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2014</c:v>
                  </c:pt>
                  <c:pt idx="1">
                    <c:v>2015</c:v>
                  </c:pt>
                  <c:pt idx="2">
                    <c:v>2016</c:v>
                  </c:pt>
                  <c:pt idx="3">
                    <c:v>2017</c:v>
                  </c:pt>
                  <c:pt idx="4">
                    <c:v>2018</c:v>
                  </c:pt>
                  <c:pt idx="5">
                    <c:v>2019</c:v>
                  </c:pt>
                  <c:pt idx="6">
                    <c:v>2020</c:v>
                  </c:pt>
                  <c:pt idx="7">
                    <c:v>2021</c:v>
                  </c:pt>
                  <c:pt idx="8">
                    <c:v>2022</c:v>
                  </c:pt>
                  <c:pt idx="9">
                    <c:v>2023</c:v>
                  </c:pt>
                  <c:pt idx="10">
                    <c:v>2024</c:v>
                  </c:pt>
                  <c:pt idx="11">
                    <c:v>2025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111</c:v>
                </c:pt>
                <c:pt idx="1">
                  <c:v>506</c:v>
                </c:pt>
                <c:pt idx="2">
                  <c:v>284</c:v>
                </c:pt>
                <c:pt idx="3">
                  <c:v>308</c:v>
                </c:pt>
                <c:pt idx="4">
                  <c:v>301</c:v>
                </c:pt>
                <c:pt idx="5">
                  <c:v>223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92</c:v>
                </c:pt>
                <c:pt idx="10">
                  <c:v>105</c:v>
                </c:pt>
                <c:pt idx="11">
                  <c:v>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급감 구간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B0B0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2014</c:v>
                  </c:pt>
                  <c:pt idx="1">
                    <c:v>2015</c:v>
                  </c:pt>
                  <c:pt idx="2">
                    <c:v>2016</c:v>
                  </c:pt>
                  <c:pt idx="3">
                    <c:v>2017</c:v>
                  </c:pt>
                  <c:pt idx="4">
                    <c:v>2018</c:v>
                  </c:pt>
                  <c:pt idx="5">
                    <c:v>2019</c:v>
                  </c:pt>
                  <c:pt idx="6">
                    <c:v>2020</c:v>
                  </c:pt>
                  <c:pt idx="7">
                    <c:v>2021</c:v>
                  </c:pt>
                  <c:pt idx="8">
                    <c:v>2022</c:v>
                  </c:pt>
                  <c:pt idx="9">
                    <c:v>2023</c:v>
                  </c:pt>
                  <c:pt idx="10">
                    <c:v>2024</c:v>
                  </c:pt>
                  <c:pt idx="11">
                    <c:v>2025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308</c:v>
                </c:pt>
                <c:pt idx="7">
                  <c:v>163</c:v>
                </c:pt>
                <c:pt idx="8">
                  <c:v>72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numFmt formatCode="#,##0;;;" sourceLinked="0"/>
          <c:txPr>
            <a:bodyPr/>
            <a:lstStyle/>
            <a:p>
              <a:pPr>
                <a:defRPr b="0" i="0" strike="noStrike" sz="750" u="none">
                  <a:solidFill>
                    <a:srgbClr val="0B0B0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2514E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2514E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</c:v>
                </c:pt>
              </c:strCache>
            </c:strRef>
          </c:tx>
          <c:spPr>
            <a:solidFill>
              <a:srgbClr val="B8B6B0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0B0B0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2015</c:v>
                  </c:pt>
                  <c:pt idx="1">
                    <c:v>2018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  <c:pt idx="7">
                    <c:v>2025*</c:v>
                  </c:pt>
                  <c:pt idx="8">
                    <c:v>2026*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11253</c:v>
                </c:pt>
                <c:pt idx="1">
                  <c:v>9345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3910</c:v>
                </c:pt>
                <c:pt idx="6">
                  <c:v>3812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급감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0B0B0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2015</c:v>
                  </c:pt>
                  <c:pt idx="1">
                    <c:v>2018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  <c:pt idx="7">
                    <c:v>2025*</c:v>
                  </c:pt>
                  <c:pt idx="8">
                    <c:v>2026*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6648</c:v>
                </c:pt>
                <c:pt idx="3">
                  <c:v>4776</c:v>
                </c:pt>
                <c:pt idx="4">
                  <c:v>3397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신뢰 낮음</c:v>
                </c:pt>
              </c:strCache>
            </c:strRef>
          </c:tx>
          <c:spPr>
            <a:solidFill>
              <a:srgbClr val="E3E8EA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0B0B0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2015</c:v>
                  </c:pt>
                  <c:pt idx="1">
                    <c:v>2018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  <c:pt idx="7">
                    <c:v>2025*</c:v>
                  </c:pt>
                  <c:pt idx="8">
                    <c:v>2026*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8887</c:v>
                </c:pt>
                <c:pt idx="8">
                  <c:v>8799</c:v>
                </c:pt>
              </c:numCache>
            </c:numRef>
          </c:val>
        </c:ser>
        <c:dLbls>
          <c:numFmt formatCode="#,##0;;;" sourceLinked="0"/>
          <c:txPr>
            <a:bodyPr/>
            <a:lstStyle/>
            <a:p>
              <a:pPr>
                <a:defRPr b="0" i="0" strike="noStrike" sz="650" u="none">
                  <a:solidFill>
                    <a:srgbClr val="0B0B0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2514E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2514E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네이버 검색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2016</c:v>
                  </c:pt>
                  <c:pt idx="1">
                    <c:v>2018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2024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4902</c:v>
                </c:pt>
                <c:pt idx="1">
                  <c:v>2980</c:v>
                </c:pt>
                <c:pt idx="2">
                  <c:v>2220</c:v>
                </c:pt>
                <c:pt idx="3">
                  <c:v>1193</c:v>
                </c:pt>
                <c:pt idx="4">
                  <c:v>1028</c:v>
                </c:pt>
                <c:pt idx="5">
                  <c:v>1278</c:v>
                </c:pt>
                <c:pt idx="6">
                  <c:v>776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네이버 광고</c:v>
                </c:pt>
              </c:strCache>
            </c:strRef>
          </c:tx>
          <c:spPr>
            <a:solidFill>
              <a:srgbClr val="EDA100"/>
            </a:solidFill>
            <a:ln w="25400" cap="flat">
              <a:solidFill>
                <a:srgbClr val="EDA1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EDA100"/>
              </a:solidFill>
              <a:ln w="9525" cap="flat">
                <a:solidFill>
                  <a:srgbClr val="EDA1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2016</c:v>
                  </c:pt>
                  <c:pt idx="1">
                    <c:v>2018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2024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296</c:v>
                </c:pt>
                <c:pt idx="1">
                  <c:v>326</c:v>
                </c:pt>
                <c:pt idx="2">
                  <c:v>472</c:v>
                </c:pt>
                <c:pt idx="3">
                  <c:v>368</c:v>
                </c:pt>
                <c:pt idx="4">
                  <c:v>283</c:v>
                </c:pt>
                <c:pt idx="5">
                  <c:v>334</c:v>
                </c:pt>
                <c:pt idx="6">
                  <c:v>203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다음</c:v>
                </c:pt>
              </c:strCache>
            </c:strRef>
          </c:tx>
          <c:spPr>
            <a:solidFill>
              <a:srgbClr val="1BAF7A"/>
            </a:solidFill>
            <a:ln w="25400" cap="flat">
              <a:solidFill>
                <a:srgbClr val="1BAF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1BAF7A"/>
              </a:solidFill>
              <a:ln w="9525" cap="flat">
                <a:solidFill>
                  <a:srgbClr val="1BAF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2016</c:v>
                  </c:pt>
                  <c:pt idx="1">
                    <c:v>2018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2024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1267</c:v>
                </c:pt>
                <c:pt idx="1">
                  <c:v>955</c:v>
                </c:pt>
                <c:pt idx="2">
                  <c:v>644</c:v>
                </c:pt>
                <c:pt idx="3">
                  <c:v>273</c:v>
                </c:pt>
                <c:pt idx="4">
                  <c:v>7</c:v>
                </c:pt>
                <c:pt idx="5">
                  <c:v>59</c:v>
                </c:pt>
                <c:pt idx="6">
                  <c:v>131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네이버 블로그</c:v>
                </c:pt>
              </c:strCache>
            </c:strRef>
          </c:tx>
          <c:spPr>
            <a:solidFill>
              <a:srgbClr val="EB6834"/>
            </a:solidFill>
            <a:ln w="254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2016</c:v>
                  </c:pt>
                  <c:pt idx="1">
                    <c:v>2018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2024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2555</c:v>
                </c:pt>
                <c:pt idx="1">
                  <c:v>764</c:v>
                </c:pt>
                <c:pt idx="2">
                  <c:v>600</c:v>
                </c:pt>
                <c:pt idx="3">
                  <c:v>118</c:v>
                </c:pt>
                <c:pt idx="4">
                  <c:v>43</c:v>
                </c:pt>
                <c:pt idx="5">
                  <c:v>42</c:v>
                </c:pt>
                <c:pt idx="6">
                  <c:v>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2514E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0"/>
        </c:scaling>
        <c:delete val="0"/>
        <c:axPos val="l"/>
        <c:majorGridlines>
          <c:spPr>
            <a:ln w="6350" cap="flat">
              <a:solidFill>
                <a:srgbClr val="E6E5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2514E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  <c:majorUnit val="1000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legend>
      <c:legendPos val="r"/>
      <c:overlay val="0"/>
      <c:txPr>
        <a:bodyPr/>
        <a:lstStyle/>
        <a:p>
          <a:pPr>
            <a:defRPr sz="750">
              <a:solidFill>
                <a:srgbClr val="0B0B0B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글 수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B0B0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14</c:v>
                  </c:pt>
                  <c:pt idx="1">
                    <c:v>15</c:v>
                  </c:pt>
                  <c:pt idx="2">
                    <c:v>16</c:v>
                  </c:pt>
                  <c:pt idx="3">
                    <c:v>17</c:v>
                  </c:pt>
                  <c:pt idx="4">
                    <c:v>18</c:v>
                  </c:pt>
                  <c:pt idx="5">
                    <c:v>19</c:v>
                  </c:pt>
                  <c:pt idx="6">
                    <c:v>20</c:v>
                  </c:pt>
                  <c:pt idx="7">
                    <c:v>21</c:v>
                  </c:pt>
                  <c:pt idx="8">
                    <c:v>22</c:v>
                  </c:pt>
                  <c:pt idx="9">
                    <c:v>23</c:v>
                  </c:pt>
                  <c:pt idx="10">
                    <c:v>24</c:v>
                  </c:pt>
                  <c:pt idx="11">
                    <c:v>25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139</c:v>
                </c:pt>
                <c:pt idx="1">
                  <c:v>242</c:v>
                </c:pt>
                <c:pt idx="2">
                  <c:v>238</c:v>
                </c:pt>
                <c:pt idx="3">
                  <c:v>264</c:v>
                </c:pt>
                <c:pt idx="4">
                  <c:v>165</c:v>
                </c:pt>
                <c:pt idx="5">
                  <c:v>180</c:v>
                </c:pt>
                <c:pt idx="6">
                  <c:v>318</c:v>
                </c:pt>
                <c:pt idx="7">
                  <c:v>322</c:v>
                </c:pt>
                <c:pt idx="8">
                  <c:v>248</c:v>
                </c:pt>
                <c:pt idx="9">
                  <c:v>219</c:v>
                </c:pt>
                <c:pt idx="10">
                  <c:v>206</c:v>
                </c:pt>
                <c:pt idx="11">
                  <c:v>183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00" u="none">
                  <a:solidFill>
                    <a:srgbClr val="0B0B0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52514E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2514E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구체적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#&quot;%&quot;;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0B0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심사관 출신 (11)</c:v>
                  </c:pt>
                  <c:pt idx="1">
                    <c:v>지역명 (69)</c:v>
                  </c:pt>
                  <c:pt idx="2">
                    <c:v>기술 분야 (59)</c:v>
                  </c:pt>
                  <c:pt idx="3">
                    <c:v>방법·절차·비용 (24)</c:v>
                  </c:pt>
                  <c:pt idx="4">
                    <c:v>상표 (6)</c:v>
                  </c:pt>
                  <c:pt idx="5">
                    <c:v>분쟁 (21)</c:v>
                  </c:pt>
                  <c:pt idx="6">
                    <c:v>일반: 특허·변리사·특허사무소 (166)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1.9</c:v>
                </c:pt>
                <c:pt idx="2">
                  <c:v>1.7</c:v>
                </c:pt>
                <c:pt idx="3">
                  <c:v>0.6</c:v>
                </c:pt>
                <c:pt idx="4">
                  <c:v>0.6</c:v>
                </c:pt>
                <c:pt idx="5">
                  <c:v>0.33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일반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#&quot;%&quot;;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0B0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심사관 출신 (11)</c:v>
                  </c:pt>
                  <c:pt idx="1">
                    <c:v>지역명 (69)</c:v>
                  </c:pt>
                  <c:pt idx="2">
                    <c:v>기술 분야 (59)</c:v>
                  </c:pt>
                  <c:pt idx="3">
                    <c:v>방법·절차·비용 (24)</c:v>
                  </c:pt>
                  <c:pt idx="4">
                    <c:v>상표 (6)</c:v>
                  </c:pt>
                  <c:pt idx="5">
                    <c:v>분쟁 (21)</c:v>
                  </c:pt>
                  <c:pt idx="6">
                    <c:v>일반: 특허·변리사·특허사무소 (166)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0.12</c:v>
                </c:pt>
              </c:numCache>
            </c:numRef>
          </c:val>
        </c:ser>
        <c:dLbls>
          <c:numFmt formatCode="0.0#&quot;%&quot;;;;" sourceLinked="0"/>
          <c:txPr>
            <a:bodyPr/>
            <a:lstStyle/>
            <a:p>
              <a:pPr>
                <a:defRPr b="0" i="0" strike="noStrike" sz="900" u="none">
                  <a:solidFill>
                    <a:srgbClr val="0B0B0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2514E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2514E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B8B6B0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B0B0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광고비 134만→73만 원</c:v>
                  </c:pt>
                  <c:pt idx="1">
                    <c:v>클릭 671→388</c:v>
                  </c:pt>
                  <c:pt idx="2">
                    <c:v>클릭당 1,993→1,891원</c:v>
                  </c:pt>
                  <c:pt idx="3">
                    <c:v>신청 18→15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B0B0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광고비 134만→73만 원</c:v>
                  </c:pt>
                  <c:pt idx="1">
                    <c:v>클릭 671→388</c:v>
                  </c:pt>
                  <c:pt idx="2">
                    <c:v>클릭당 1,993→1,891원</c:v>
                  </c:pt>
                  <c:pt idx="3">
                    <c:v>신청 18→15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58</c:v>
                </c:pt>
                <c:pt idx="2">
                  <c:v>95</c:v>
                </c:pt>
                <c:pt idx="3">
                  <c:v>83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0" i="0" strike="noStrike" sz="850" u="none">
                  <a:solidFill>
                    <a:srgbClr val="0B0B0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2514E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2514E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5초 안에 나감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B0B0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기술 (21)</c:v>
                  </c:pt>
                  <c:pt idx="1">
                    <c:v>방법·비용 (12)</c:v>
                  </c:pt>
                  <c:pt idx="2">
                    <c:v>일반 (36)</c:v>
                  </c:pt>
                  <c:pt idx="3">
                    <c:v>지방 (24)</c:v>
                  </c:pt>
                  <c:pt idx="4">
                    <c:v>분쟁 (14)</c:v>
                  </c:pt>
                  <c:pt idx="5">
                    <c:v>전체 (120)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33</c:v>
                </c:pt>
                <c:pt idx="2">
                  <c:v>31</c:v>
                </c:pt>
                <c:pt idx="3">
                  <c:v>29</c:v>
                </c:pt>
                <c:pt idx="4">
                  <c:v>36</c:v>
                </c:pt>
                <c:pt idx="5">
                  <c:v>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30초 넘게 머묾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B0B0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기술 (21)</c:v>
                  </c:pt>
                  <c:pt idx="1">
                    <c:v>방법·비용 (12)</c:v>
                  </c:pt>
                  <c:pt idx="2">
                    <c:v>일반 (36)</c:v>
                  </c:pt>
                  <c:pt idx="3">
                    <c:v>지방 (24)</c:v>
                  </c:pt>
                  <c:pt idx="4">
                    <c:v>분쟁 (14)</c:v>
                  </c:pt>
                  <c:pt idx="5">
                    <c:v>전체 (120)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38</c:v>
                </c:pt>
                <c:pt idx="1">
                  <c:v>50</c:v>
                </c:pt>
                <c:pt idx="2">
                  <c:v>36</c:v>
                </c:pt>
                <c:pt idx="3">
                  <c:v>21</c:v>
                </c:pt>
                <c:pt idx="4">
                  <c:v>14</c:v>
                </c:pt>
                <c:pt idx="5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B0B0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2514E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2514E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700"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514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514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특허사무소 무료진단 신청 회복 — 랜딩 사이트·광고 개선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8321040" cy="329184"/>
          </a:xfrm>
          <a:prstGeom prst="rect">
            <a:avLst/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21208" y="658368"/>
            <a:ext cx="8101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 </a:t>
            </a:r>
            <a:pPr indent="0" marL="0">
              <a:buNone/>
            </a:pPr>
            <a:r>
              <a:rPr lang="en-US" sz="10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특허사무소 무료진단 랜딩 사이트의 방문자수 분석, 광고 데이터 분석 → 랜딩 사이트 개선, 광고 개선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09728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매출 = 방문수 → 방문당 신청률 → 수임 전환율 → 수임당 매출   (칸마다 왜 분석이 어려운가)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1335024"/>
            <a:ext cx="1977390" cy="658368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" y="1353312"/>
            <a:ext cx="18310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방문수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84632" y="1554480"/>
            <a:ext cx="18310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통계에 봇이 섞이고 유입 경로를 놓침 → OS로 봇 추정, 경로는 추이로만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2388870" y="1335024"/>
            <a:ext cx="137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26030" y="1335024"/>
            <a:ext cx="1977390" cy="658368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99182" y="1353312"/>
            <a:ext cx="18310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방문당 신청률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2599182" y="1554480"/>
            <a:ext cx="18310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신청은 정확(문자)하지만 분모인 방문이 추정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4503420" y="1335024"/>
            <a:ext cx="137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40580" y="1335024"/>
            <a:ext cx="1977390" cy="658368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13732" y="1353312"/>
            <a:ext cx="18310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수임 전환율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713732" y="1554480"/>
            <a:ext cx="18310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 뒤는 전화라 사이트 밖. 기록 없음, 변리사 기억뿐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6617970" y="1335024"/>
            <a:ext cx="137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55130" y="1335024"/>
            <a:ext cx="1977390" cy="658368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28282" y="1353312"/>
            <a:ext cx="18310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수임당 매출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828282" y="1554480"/>
            <a:ext cx="18310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수수료·수임률은 변리사 답(기억에 의한 값)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411480" y="210312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신청은 2020년 308건에서 2022년 72건으로, 2년 만에 4분의 1이 됐다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11480" y="234086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연도별 신청 건수 (알림 문자 기준, 2026년은 10월까지라 제외)</a:t>
            </a:r>
            <a:endParaRPr lang="en-US" sz="8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338328" y="2542032"/>
          <a:ext cx="4937760" cy="18470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Text 21"/>
          <p:cNvSpPr txBox="1"/>
          <p:nvPr/>
        </p:nvSpPr>
        <p:spPr>
          <a:xfrm>
            <a:off x="5532120" y="21031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기간 (문제)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5532120" y="2340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 308건(2020) → 72건(2022), 회복 안 됨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532120" y="27432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임팩트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5532120" y="298094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손실 연 약 6,000만~1.2억 원 = 연 200건 감소 × 수임 10~20% × 수수료 300만 원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5532120" y="351129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기준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5532120" y="3749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연 150건 = 방문 3,812(2024) 그대로 두고 신청률만 4.6%(2020년 수준)로 되돌리면 177건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11480" y="4480560"/>
            <a:ext cx="8321040" cy="0"/>
          </a:xfrm>
          <a:prstGeom prst="line">
            <a:avLst/>
          </a:prstGeom>
          <a:noFill/>
          <a:ln w="12700">
            <a:solidFill>
              <a:srgbClr val="DFE3E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11480" y="4526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관리자 페이지 문자 전송내역 2014-11 ~ 2026-10-05 · 전처리: 2,895건 → 스팸 254건 제외 2,641건. 수임률·수수료는 변리사 답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514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방문자수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방문은 2015년부터 꾸준히 감소, 급감 구간에 절반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9611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봇을 뺀 실제 방문 추정, 명</a:t>
            </a:r>
            <a:endParaRPr lang="en-US" sz="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38328" y="1097280"/>
          <a:ext cx="310896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11480" y="2505456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전처리: 같은 IP는 하루 1회. 봇 = OS "Robot"·"Linux" 방문을 뺌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2021-10부터 방문이 월 900 → 2,100인데 신청은 월 12 → 5. 급증분은 전부 유입 경로 없는 "직접", 시간대 0~23시 고름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*2025 신뢰 낮음: Robot 8,848 급증, Chrome도 두 배인데 신청은 그대로 → Chrome인 척하는 자동 접속 추정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3703320" y="65836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유입경로별 방문수: 끊긴 것은 다음·블로그·네이버 검색, 광고는 가장 덜 감소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3703320" y="8961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경로별 연간 방문 (서버 기록, "직접" 제외. 출처를 놓치는 경우가 많아 추이로만 봄)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330952" y="1207008"/>
            <a:ext cx="1325880" cy="1554480"/>
          </a:xfrm>
          <a:prstGeom prst="rect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graphicFrame>
        <p:nvGraphicFramePr>
          <p:cNvPr id="10" name="Chart 1" descr=""/>
          <p:cNvGraphicFramePr/>
          <p:nvPr/>
        </p:nvGraphicFramePr>
        <p:xfrm>
          <a:off x="3611880" y="1097280"/>
          <a:ext cx="516636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3703320" y="303580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2020→22:  네이버 광고 −40% · 네이버 검색 −54% · 네이버 블로그 −93% · 다음 −99% · 신청 −77%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411480" y="3611880"/>
            <a:ext cx="8321040" cy="804672"/>
          </a:xfrm>
          <a:prstGeom prst="rect">
            <a:avLst/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21208" y="363931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GA4 유입경로별 세션 (2026-09-18 ~ 10-15, 28일, 215)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521208" y="3858768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94</a:t>
            </a:r>
            <a:endParaRPr lang="en-US" sz="1400" dirty="0"/>
          </a:p>
          <a:p>
            <a:pPr indent="0" marL="0">
              <a:buNone/>
            </a:pPr>
            <a:r>
              <a:rPr lang="en-US" sz="7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Organic Search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389888" y="3858768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</a:t>
            </a:r>
            <a:endParaRPr lang="en-US" sz="1400" dirty="0"/>
          </a:p>
          <a:p>
            <a:pPr indent="0" marL="0">
              <a:buNone/>
            </a:pPr>
            <a:r>
              <a:rPr lang="en-US" sz="7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Direct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2258568" y="3858768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1400" dirty="0"/>
          </a:p>
          <a:p>
            <a:pPr indent="0" marL="0">
              <a:buNone/>
            </a:pPr>
            <a:r>
              <a:rPr lang="en-US" sz="7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Paid Search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3127248" y="3858768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  <a:p>
            <a:pPr indent="0" marL="0">
              <a:buNone/>
            </a:pPr>
            <a:r>
              <a:rPr lang="en-US" sz="7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Organic Social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3995928" y="3858768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  <a:p>
            <a:pPr indent="0" marL="0">
              <a:buNone/>
            </a:pPr>
            <a:r>
              <a:rPr lang="en-US" sz="7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Referral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4864608" y="3858768"/>
            <a:ext cx="3776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한계: 옛 사이트가 http라 네이버(https)에서 올 때 출처(리퍼러 쪽지)가 빠져 "직접"으로 잘못 분류됨. 10-06 전엔 광고 링크에 UTM이 없어 광고가 Organic Search로 들어감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411480" y="4480560"/>
            <a:ext cx="8321040" cy="0"/>
          </a:xfrm>
          <a:prstGeom prst="line">
            <a:avLst/>
          </a:prstGeom>
          <a:noFill/>
          <a:ln w="12700">
            <a:solidFill>
              <a:srgbClr val="DFE3E2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11480" y="4526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관리자 페이지 접속자통계 — 연도별·OS별 방문자(2015 ~ 2026), 유입 도메인별 방문(2016 ~ 2026-10-06). GA4 트래픽 획득 보고서 · 전처리: 경로 비교는 "직접"(봇 대부분) 제외. 감소율은 2020 → 2022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514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유입경로별 방문자수 — 원인과 할 일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11480" y="685800"/>
            <a:ext cx="45720" cy="3703320"/>
          </a:xfrm>
          <a:prstGeom prst="rect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68580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AF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−99%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960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광고·등록 중단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중단 시점이 2021-05이면 신청이 처음 꺾인 달과 일치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1920240" cy="1828800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7784" y="1874520"/>
            <a:ext cx="1810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재개하면: 예상 비용 vs 추가 매출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되찾을 방문 = 2020년 644 − 지금 131(2026) = 513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513 × 신청률 4.6% = 신청 연 24건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24건 × 수임률 10~20% = 수임 2~5건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2~5건 × 수수료 300만 원 = 매출 연 700만~1,400만 원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비용: 513클릭 × 네이버 클릭당 1,891원 = 연 약 97만 원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손익분기 클릭당 14,000~28,000원. 카카오 단가 미확인(네이버의 7배를 넘지 않으면 이득)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749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=&gt; action item: 다음(카카오) 재개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14600" y="685800"/>
            <a:ext cx="45720" cy="3703320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06040" y="68580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블로그 −93%</a:t>
            </a:r>
            <a:endParaRPr lang="en-US" sz="11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2560320" y="960120"/>
          <a:ext cx="2011680" cy="914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2606040" y="18928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블로그 글 수(건, 2014~2025). 블로그에서 온 방문은 2,555(2016) → 600(2020) → 118(2021) → 43(2022)</a:t>
            </a:r>
            <a:endParaRPr lang="en-US" sz="700" dirty="0"/>
          </a:p>
        </p:txBody>
      </p:sp>
      <p:sp>
        <p:nvSpPr>
          <p:cNvPr id="13" name="Text 10"/>
          <p:cNvSpPr txBox="1"/>
          <p:nvPr/>
        </p:nvSpPr>
        <p:spPr>
          <a:xfrm>
            <a:off x="2606040" y="224028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글의 성격: 승소율·FAQ·제도 안내 — 읽을 글 → 등록/승소 리스트 (2015 이후 계속)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노출 방식 변화 (2016 C-Rank, 2018 VIEW, 2021-10 스마트블록)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2606040" y="3749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=&gt; action item: 읽을 내용이 있는 글로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617720" y="685800"/>
            <a:ext cx="45720" cy="3703320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09160" y="68580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검색 −54%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4709160" y="960120"/>
            <a:ext cx="1920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사이트 쪽: 글자가 전부 이미지라 검색엔진이 못 읽음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709160" y="3749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=&gt; action item: 리뉴얼로 글자를 텍스트로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720840" y="685800"/>
            <a:ext cx="45720" cy="3703320"/>
          </a:xfrm>
          <a:prstGeom prst="rect">
            <a:avLst/>
          </a:prstGeom>
          <a:solidFill>
            <a:srgbClr val="C08A00"/>
          </a:solidFill>
          <a:ln w="12700">
            <a:solidFill>
              <a:srgbClr val="C08A0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12280" y="68580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8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광고 −40%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6812280" y="960120"/>
            <a:ext cx="1920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옛 사이트 세션(1개월) 약 180, 그중 광고 주소로 온 방문 120 (GA4)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기기: 신청 페이지 142명 중 모바일 62 (44%)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11480" y="4480560"/>
            <a:ext cx="8321040" cy="0"/>
          </a:xfrm>
          <a:prstGeom prst="line">
            <a:avLst/>
          </a:prstGeom>
          <a:noFill/>
          <a:ln w="12700">
            <a:solidFill>
              <a:srgbClr val="DFE3E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11480" y="4526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접속자통계 유입 도메인별 방문, 사무소 네이버 블로그 글 목록 2,736건(공개 RSS·글 목록), GA4 2026-09-02 ~ 10-01 · 전처리: GA4는 작업자 접속이 섞인 "직접" 69세션 제외. 다음 중단은 변리사 답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514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방문자수 — 네이버 광고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검색어 유형별 클릭률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9611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괄호는 90일 클릭 수 · 클릭당 비용은 유형과 상관없이 2,000원 안팎 (지역명만 706원)</a:t>
            </a:r>
            <a:endParaRPr lang="en-US" sz="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115568"/>
          <a:ext cx="47548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40680" y="65836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작년 정리로 광고비 −45%에 신청은 −17%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40680" y="89611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작년 정리 전후, 같은 90일. 2025년을 100으로</a:t>
            </a:r>
            <a:endParaRPr lang="en-US" sz="8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5394960" y="1188720"/>
          <a:ext cx="33832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411480" y="4480560"/>
            <a:ext cx="8321040" cy="0"/>
          </a:xfrm>
          <a:prstGeom prst="line">
            <a:avLst/>
          </a:prstGeom>
          <a:noFill/>
          <a:ln w="12700">
            <a:solidFill>
              <a:srgbClr val="DFE3E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11480" y="4526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네이버 검색광고 검색어 보고서 2026-07-06 ~ 10-03(90일), 비교용 2025-07-02 ~ 09-29 · 전처리: 27,277행, 보고서 제목 줄 제거. 검색어 9,383개를 글자 규칙으로 유형 분류(클릭 난 231개는 검산)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514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방문당 신청률 · 수임 전환율 · 수임당 매출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069080" y="658368"/>
            <a:ext cx="0" cy="3017520"/>
          </a:xfrm>
          <a:prstGeom prst="line">
            <a:avLst/>
          </a:prstGeom>
          <a:noFill/>
          <a:ln w="12700">
            <a:solidFill>
              <a:srgbClr val="DFE3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658368"/>
            <a:ext cx="0" cy="3017520"/>
          </a:xfrm>
          <a:prstGeom prst="line">
            <a:avLst/>
          </a:prstGeom>
          <a:noFill/>
          <a:ln w="12700">
            <a:solidFill>
              <a:srgbClr val="DFE3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6583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방문당 신청률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8778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4.6% → 2.1%</a:t>
            </a:r>
            <a:pPr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2020 → 2022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12618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광고로 온 사람 4명 중 1명은 5초 안에 나간다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149961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GA4 광고 유입 120건의 검색어 유형별 체류(%) · 괄호는 사람 수</a:t>
            </a:r>
            <a:endParaRPr lang="en-US" sz="8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38328" y="1664208"/>
          <a:ext cx="3675888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11480" y="325526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=&gt; action item: 18초 안에 "누가·무엇을·무료로", 읽기 끝에 간편 신청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4160520" y="65836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수임 전환율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160520" y="87782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없음</a:t>
            </a:r>
            <a:pPr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신청 뒤는 전화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160520" y="1298448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보완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 유입 → 키워드광고 유입 신청자: 네이버 전환 추적 코드 설치 (신청 → 승인 → 설치)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전화로 바로 거는 사람: 휴대폰 번호 클릭 기록, 사이트 전용 착신 번호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4160520" y="325526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=&gt; action item: 신청마다 수임 여부 기록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6675120" y="65836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수임당 매출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6675120" y="932688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출원  </a:t>
            </a:r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300만 원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신청의 94% (2,021건)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분쟁  </a:t>
            </a:r>
            <a:pPr indent="0" marL="0">
              <a:buNone/>
            </a:pPr>
            <a:r>
              <a:rPr lang="en-US" sz="16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2,000만 원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신청의 6% (120건)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675120" y="3035808"/>
            <a:ext cx="2057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=&gt; action item: 분쟁 페이지를 리뉴얼 우선순위에, 폼보다 전화 → 분쟁 광고는 줄이지 않음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11480" y="4480560"/>
            <a:ext cx="8321040" cy="0"/>
          </a:xfrm>
          <a:prstGeom prst="line">
            <a:avLst/>
          </a:prstGeom>
          <a:noFill/>
          <a:ln w="12700">
            <a:solidFill>
              <a:srgbClr val="DFE3E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11480" y="4526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신청 알림 문자, 신청 게시판 2,174건, 서버 실제 방문, GA4 광고 유입 120세션(2026-09-02 ~ 10-01), 변리사 답(수임률·수수료) · 전처리: 게시판은 스팸 10건·휴대폰 형식 아님 23건 제외 → 2,141건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514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특허사무소 무료진단 신청 회복 — 랜딩 사이트·광고 개선</dc:title>
  <dc:subject>PptxGenJS Presentation</dc:subject>
  <dc:creator>PptxGenJS</dc:creator>
  <cp:lastModifiedBy>PptxGenJS</cp:lastModifiedBy>
  <cp:revision>1</cp:revision>
  <dcterms:created xsi:type="dcterms:W3CDTF">2026-10-16T04:49:32Z</dcterms:created>
  <dcterms:modified xsi:type="dcterms:W3CDTF">2026-10-16T04:49:32Z</dcterms:modified>
</cp:coreProperties>
</file>