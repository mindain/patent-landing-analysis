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7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11253</c:v>
                </c:pt>
                <c:pt idx="1">
                  <c:v>9345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3910</c:v>
                </c:pt>
                <c:pt idx="6">
                  <c:v>3812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6648</c:v>
                </c:pt>
                <c:pt idx="3">
                  <c:v>4776</c:v>
                </c:pt>
                <c:pt idx="4">
                  <c:v>3397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신뢰 낮음</c:v>
                </c:pt>
              </c:strCache>
            </c:strRef>
          </c:tx>
          <c:spPr>
            <a:solidFill>
              <a:srgbClr val="E3E8EA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8887</c:v>
                </c:pt>
                <c:pt idx="8">
                  <c:v>8799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6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75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글 수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14</c:v>
                  </c:pt>
                  <c:pt idx="1">
                    <c:v>15</c:v>
                  </c:pt>
                  <c:pt idx="2">
                    <c:v>16</c:v>
                  </c:pt>
                  <c:pt idx="3">
                    <c:v>17</c:v>
                  </c:pt>
                  <c:pt idx="4">
                    <c:v>18</c:v>
                  </c:pt>
                  <c:pt idx="5">
                    <c:v>19</c:v>
                  </c:pt>
                  <c:pt idx="6">
                    <c:v>20</c:v>
                  </c:pt>
                  <c:pt idx="7">
                    <c:v>21</c:v>
                  </c:pt>
                  <c:pt idx="8">
                    <c:v>22</c:v>
                  </c:pt>
                  <c:pt idx="9">
                    <c:v>23</c:v>
                  </c:pt>
                  <c:pt idx="10">
                    <c:v>24</c:v>
                  </c:pt>
                  <c:pt idx="11">
                    <c:v>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139</c:v>
                </c:pt>
                <c:pt idx="1">
                  <c:v>242</c:v>
                </c:pt>
                <c:pt idx="2">
                  <c:v>238</c:v>
                </c:pt>
                <c:pt idx="3">
                  <c:v>264</c:v>
                </c:pt>
                <c:pt idx="4">
                  <c:v>165</c:v>
                </c:pt>
                <c:pt idx="5">
                  <c:v>180</c:v>
                </c:pt>
                <c:pt idx="6">
                  <c:v>318</c:v>
                </c:pt>
                <c:pt idx="7">
                  <c:v>322</c:v>
                </c:pt>
                <c:pt idx="8">
                  <c:v>248</c:v>
                </c:pt>
                <c:pt idx="9">
                  <c:v>219</c:v>
                </c:pt>
                <c:pt idx="10">
                  <c:v>206</c:v>
                </c:pt>
                <c:pt idx="11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포괄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8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134만→73만 원</c:v>
                  </c:pt>
                  <c:pt idx="1">
                    <c:v>클릭 671→388</c:v>
                  </c:pt>
                  <c:pt idx="2">
                    <c:v>클릭당 1,993→1,891원</c:v>
                  </c:pt>
                  <c:pt idx="3">
                    <c:v>신청 18→15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광고비 134만→73만 원</c:v>
                  </c:pt>
                  <c:pt idx="1">
                    <c:v>클릭 671→388</c:v>
                  </c:pt>
                  <c:pt idx="2">
                    <c:v>클릭당 1,993→1,891원</c:v>
                  </c:pt>
                  <c:pt idx="3">
                    <c:v>신청 18→15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58</c:v>
                </c:pt>
                <c:pt idx="2">
                  <c:v>95</c:v>
                </c:pt>
                <c:pt idx="3">
                  <c:v>83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 — 랜딩 사이트·광고 개선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58368"/>
            <a:ext cx="83210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21208" y="658368"/>
            <a:ext cx="8101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</a:t>
            </a:r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랜딩 사이트의 방문자수·광고 데이터 분석 → 랜딩 사이트 개선, 광고 개선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 </a:t>
            </a:r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원데이터는 공개하지 않고 집계값만. 상호명과 개인정보는 가림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207008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= 방문수 × 방문당 신청률 × 수임 전환율 × 수임당 매출  — 칸마다 데이터가 왜 어려운가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11480" y="1444752"/>
            <a:ext cx="1977390" cy="658368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" y="1463040"/>
            <a:ext cx="18310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방문수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84632" y="1664208"/>
            <a:ext cx="18310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통계에 봇이 섞이고 유입 경로를 놓침 → OS로 봇 추정, 경로는 추이로만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388870" y="1444752"/>
            <a:ext cx="137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26030" y="1444752"/>
            <a:ext cx="1977390" cy="658368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99182" y="1463040"/>
            <a:ext cx="18310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599182" y="1664208"/>
            <a:ext cx="18310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정확(문자)하지만 분모인 방문이 추정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4503420" y="1444752"/>
            <a:ext cx="137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40580" y="1444752"/>
            <a:ext cx="1977390" cy="658368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13732" y="1463040"/>
            <a:ext cx="18310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4713732" y="1664208"/>
            <a:ext cx="18310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뒤는 전화라 사이트 밖. 기록 없음, 변리사 기억뿐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6617970" y="1444752"/>
            <a:ext cx="137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55130" y="1444752"/>
            <a:ext cx="1977390" cy="658368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28282" y="1463040"/>
            <a:ext cx="18310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828282" y="1664208"/>
            <a:ext cx="18310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수수료·수임률은 변리사 답(기억에 의한 값)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411480" y="2212848"/>
            <a:ext cx="4846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2020년 308건에서 2022년 72건으로, 2년 만에 4분의 1이 됐다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11480" y="2450592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8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338328" y="2651760"/>
          <a:ext cx="493776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5532120" y="22128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(핵심 기간 2020 → 2022)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532120" y="245059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308건(2020) → 72건(2022), 회복 안 됨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연 약 6,000만~1.2억 원 = 연 200건 감소 × 수임 10~20% × 수수료 300만 원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연 150건 = 방문 3,812(2024) 그대로 두고 신청률만 4.6%로 되돌리면 177건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5532120" y="338328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→ 해결책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5532120" y="3621024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줄어든 236건 = 방문 47% + 신청률 53% (셰이플리 분해)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 개선 · 광고 개선 · 신청마다 수임 여부 기록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2026-10-05, 2,895건 → 스팸 254건 제외 2,641건. 수임률·수수료는 변리사 답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2015년부터 꾸준히 감소, 급감 구간에 절반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96112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봇을 뺀 실제 방문 추정, 명 · 같은 IP는 하루 1회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38328" y="1097280"/>
          <a:ext cx="3108960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2505456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추정 = OS "Robot"·"Linux" 방문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2021-10부터 방문이 월 900 → 2,100인데 신청은 월 12 → 5. 급증분은 전부 유입 경로 없는 "직접", 시간대 0~23시 고름. 같은 해 Robot 1,059 → 4,508, Linux 2,643 → 7,423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*2025 신뢰 낮음: Robot 8,848 급증, Chrome도 두 배인데 신청은 그대로 → Chrome인 척하는 자동 접속 추정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3703320" y="6583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끊긴 것은 다음·블로그·네이버 검색. 광고는 가장 덜 감소 → 원인은 광고가 아님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703320" y="896112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연간 방문 (서버 기록, "직접" 제외. 출처를 놓치는 경우가 많아 추이로만 봄)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330952" y="1207008"/>
            <a:ext cx="1325880" cy="1554480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graphicFrame>
        <p:nvGraphicFramePr>
          <p:cNvPr id="10" name="Chart 1" descr=""/>
          <p:cNvGraphicFramePr/>
          <p:nvPr/>
        </p:nvGraphicFramePr>
        <p:xfrm>
          <a:off x="3611880" y="1097280"/>
          <a:ext cx="516636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703320" y="30358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2020→22:  네이버 광고 −40% · 네이버 검색 −54% · 네이버 블로그 −93% · 다음 −99% · 신청(문자) −77%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411480" y="3611880"/>
            <a:ext cx="8321040" cy="804672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21208" y="3639312"/>
            <a:ext cx="8321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GA4로 다시 봄 (2026-09-18 ~ 10-15, 28일, 세션 215)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521208" y="38587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94</a:t>
            </a:r>
            <a:endParaRPr lang="en-US" sz="14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Search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389888" y="38587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78</a:t>
            </a:r>
            <a:endParaRPr lang="en-US" sz="14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Direct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258568" y="38587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14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Paid Search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3127248" y="38587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Organic Social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995928" y="3858768"/>
            <a:ext cx="868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Referral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864608" y="3840480"/>
            <a:ext cx="3776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10-06 전엔 광고 링크에 UTM이 없어 광고가 Organic Search로 잘못 분류(10-06 수정). Direct 78에는 작업자 접속 섞임</a:t>
            </a:r>
            <a:endParaRPr lang="en-US" sz="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옛 사이트가 http라 네이버(https)에서 올 때 출처(리퍼러)가 빠져 "직접"으로 잡힘 → 새 사이트는 https로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 — 연도별·OS별 방문자(2015 ~ 2026), 유입 도메인별 방문(2016 ~ 2026-10-06). GA4 트래픽 획득 보고서. 경로 비교는 "직접"(봇 대부분) 제외. 감소율은 2020 → 2022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 — 원인과 할 일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85800"/>
            <a:ext cx="45720" cy="3703320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858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601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 답: 다음 광고·등록 중단. 그 외 사무소 내부 변화 없음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2015~2020년 연 640~1,620 → 2022년 7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확인된 원인. 중단 시점이 2021-05이면 신청이 처음 꺾인 달과 일치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1920240" cy="1572768"/>
          </a:xfrm>
          <a:prstGeom prst="rect">
            <a:avLst/>
          </a:prstGeom>
          <a:solidFill>
            <a:srgbClr val="F4F6F7"/>
          </a:solidFill>
          <a:ln w="12700">
            <a:solidFill>
              <a:srgbClr val="F4F6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57784" y="2139696"/>
            <a:ext cx="181051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재개하면 (예상 비용 vs 추가 매출)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 644(2020년 수준) × 신청률 4.6% = 신청 연 30건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30건 × 수임률 10~20% = 수임 3~6건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3~6건 × 수수료 300만 원 = 매출 연 900만~1,800만 원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비용: 644클릭 × 네이버 클릭당 1,891원 = 연 약 120만 원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손익분기 클릭당 14,000~28,000원. 카카오 단가 미확인(네이버의 7배 넘지 않으면 이득)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749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다음(카카오) 광고·등록 재개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14600" y="685800"/>
            <a:ext cx="45720" cy="3703320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06040" y="6858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15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2560320" y="960120"/>
          <a:ext cx="2011680" cy="868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2606040" y="1828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블로그 글 수(건). 블로그에서 온 방문은 2,555(2016) → 600(2020) → 118(2021) → 43(2022)</a:t>
            </a:r>
            <a:endParaRPr lang="en-US" sz="7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2121408"/>
            <a:ext cx="1920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글의 양은 원인 아님 (가장 많이 쓴 2020~21년에 600 → 118)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글의 성격: 2014 승소율·FAQ·제도 안내(읽을 글) → 2015부터 등록/승소 리스트. 최근 50건은 같은 틀의 실적 글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후보 1: 글 형태 변화. 2016년 정점 뒤 계단식 감소와 일치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후보 2: 네이버 노출 방식 변화(2016 C-Rank, 2018 VIEW, 2021-10 스마트블록). 둘이 겹친 것으로 봄</a:t>
            </a:r>
            <a:endParaRPr lang="en-US" sz="750" dirty="0"/>
          </a:p>
        </p:txBody>
      </p:sp>
      <p:sp>
        <p:nvSpPr>
          <p:cNvPr id="14" name="Text 11"/>
          <p:cNvSpPr txBox="1"/>
          <p:nvPr/>
        </p:nvSpPr>
        <p:spPr>
          <a:xfrm>
            <a:off x="2606040" y="3749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읽을 내용이 있는 글로. 광고비 없는 경로지만 효과는 몇 년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17720" y="685800"/>
            <a:ext cx="45720" cy="370332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09160" y="6858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960120"/>
            <a:ext cx="1920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아닌 네이버 검색 결과에서 온 방문. 4,902(2016) → 2,220(2020) → 1,028(2022) → 776(2026)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사이트 쪽 원인으로 추정: 글자가 전부 이미지라 검색엔진이 못 읽음. 과거 검색 순위 자료가 없어 확인은 못 함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개편은 블로그 쪽 근거. 사이트 검색까지 바뀌었다는 근거는 없음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4709160" y="3749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리뉴얼로 글자를 텍스트로. 그 뒤 유입이 늘면 사이트 쪽 원인이었던 것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720840" y="685800"/>
            <a:ext cx="45720" cy="3703320"/>
          </a:xfrm>
          <a:prstGeom prst="rect">
            <a:avLst/>
          </a:prstGeom>
          <a:solidFill>
            <a:srgbClr val="C08A00"/>
          </a:solidFill>
          <a:ln w="12700">
            <a:solidFill>
              <a:srgbClr val="C08A0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12280" y="68580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6812280" y="960120"/>
            <a:ext cx="1920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 2026-09: 옛 사이트 세션(1개월) 약 180, 그중 광고 주소로 온 방문 120 → 실제 방문의 3분의 2가 광고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기기: 신청 페이지 142명 중 모바일 62(44%). 사이트는 PC 폭 고정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광고그룹 24개 중 21개는 첫 화면 → 출원 페이지로 자동 이동. 그 사이 광고 검색어가 사라지고 조회수가 두 번 셈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6812280" y="3749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랜딩은 광고 방문자 기준, 휴대폰부터. 광고가 바로 해당 페이지로 → 다음 장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접속자통계 유입 도메인별 방문, 사무소 네이버 블로그 글 2,736건(공개 목록), GA4 2026-09-02 ~ 10-01(작업자 접속 69세션 제외). 변리사 답은 기억에 의한 값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방문의 3분의 2가 광고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세션 약 180 중 광고 주소로 온 120 (GA4)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308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223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44%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3223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페이지 142명 중 62. 옛 사이트는 PC 폭 고정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0502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417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노출 195,455 · 클릭 388 · 733,728원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417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클릭률 0.2% · 클릭당 1,891원 · 전환 측정 없음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2435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특허·변리사 같은 일반 검색어는 1만 번 보여야 12번 눌린다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14813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 · 괄호는 90일 클릭 수 · 클릭당 비용은 유형과 상관없이 2,000원 안팎(지역명만 706원)</a:t>
            </a:r>
            <a:endParaRPr lang="en-US" sz="8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20040" y="1700784"/>
          <a:ext cx="475488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440680" y="124358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 vs 구체적 검색어 (모든 광고그룹)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1463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1847088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검색어가 노출 68%, 광고비 26%를 쓰고 클릭은 20%. 클릭당 비용은 같음(2,547원 대 2,434원). 피셔, 우연일 확률 0.1% 미만</a:t>
            </a:r>
            <a:endParaRPr lang="en-US" sz="8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직접 등록한 키워드의 절반만 눌림(0.32% 대 0.61%)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5440680" y="24323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정리로 광고비 −45%에 신청은 −17%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440680" y="26700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 전후, 같은 90일. 2025년을 100으로. 18→15는 우연일 확률 73%(이항), 광고비대로 줄었다면 15건 이상일 확률 8%(포아송)</a:t>
            </a:r>
            <a:endParaRPr lang="en-US" sz="800" dirty="0"/>
          </a:p>
        </p:txBody>
      </p:sp>
      <p:graphicFrame>
        <p:nvGraphicFramePr>
          <p:cNvPr id="20" name="Chart 1" descr=""/>
          <p:cNvGraphicFramePr/>
          <p:nvPr/>
        </p:nvGraphicFramePr>
        <p:xfrm>
          <a:off x="5394960" y="2834640"/>
          <a:ext cx="3383280" cy="9326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Shape 17"/>
          <p:cNvSpPr/>
          <p:nvPr/>
        </p:nvSpPr>
        <p:spPr>
          <a:xfrm>
            <a:off x="5440680" y="3822192"/>
            <a:ext cx="3291840" cy="603504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532120" y="385876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뺌: 특허·특허법인·변리사·특허사무소 입찰 낮추거나 제외("특허출원"은 남김). 확장 검색은 성적 나쁜 그룹부터 끔, "변리사파견" 등 무관 노출 정리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늘림: 지방 키워드(클릭률 1.9%, 클릭당 706원, 변리사 선호), 심사관출신 그룹(클릭률 1위, 비용 2.5%)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10-03(90일, 27,277행), 비교용 2025-07-02 ~ 09-29. GA4 2026-09-02 ~ 10-01(작업자 접속 69세션 제외)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9,383개를 글자 규칙으로 유형 분류(클릭 난 231개는 검산). 한계: 전환 측정이 없어 클릭까지만 봄. 확장 검색의 실제 검색어는 보고서에 안 나옴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069080" y="658368"/>
            <a:ext cx="0" cy="292608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658368"/>
            <a:ext cx="0" cy="292608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65836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8778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2020 → 2022, 절반. 방문도 절반 → 신청 4분의 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26187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광고로 온 사람 4명 중 1명은 5초 안에 나간다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499616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 광고 유입 120건의 검색어 유형별 체류(%) · 괄호는 사람 수, 수가 작아 경향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38328" y="1664208"/>
          <a:ext cx="3675888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3008376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Clarity 녹화 5건: 4건은 20~34초 읽기만 하고 폼·전화번호 접촉 0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411480" y="3255264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18초 안에 "누가·무엇을·무료로", 읽기 끝에 간편 신청, 휴대폰 대응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4160520" y="6583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4160520" y="87782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신청 뒤는 전화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160520" y="1280160"/>
            <a:ext cx="1417320" cy="274320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233672" y="128016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195,455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5641848" y="143560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0.2%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4160520" y="1609344"/>
            <a:ext cx="1417320" cy="274320"/>
          </a:xfrm>
          <a:prstGeom prst="roundRect">
            <a:avLst>
              <a:gd name="adj" fmla="val 16667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233672" y="160934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388</a:t>
            </a:r>
            <a:endParaRPr lang="en-US" sz="750" dirty="0"/>
          </a:p>
        </p:txBody>
      </p:sp>
      <p:sp>
        <p:nvSpPr>
          <p:cNvPr id="19" name="Text 16"/>
          <p:cNvSpPr txBox="1"/>
          <p:nvPr/>
        </p:nvSpPr>
        <p:spPr>
          <a:xfrm>
            <a:off x="5641848" y="1764792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3.9%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4160520" y="1938528"/>
            <a:ext cx="1417320" cy="274320"/>
          </a:xfrm>
          <a:prstGeom prst="roundRect">
            <a:avLst>
              <a:gd name="adj" fmla="val 1666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33672" y="193852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신청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5641848" y="209397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 10~20%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4160520" y="2267712"/>
            <a:ext cx="1417320" cy="274320"/>
          </a:xfrm>
          <a:prstGeom prst="roundRect">
            <a:avLst>
              <a:gd name="adj" fmla="val 16667"/>
            </a:avLst>
          </a:prstGeom>
          <a:solidFill>
            <a:srgbClr val="7AA9E6"/>
          </a:solidFill>
          <a:ln w="12700">
            <a:solidFill>
              <a:srgbClr val="7AA9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233672" y="226771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추정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1.5~3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4160520" y="26243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90일: 100번 눌리면 4명 신청, 수임은 1건 미만. 수임 1건당 광고비 24만~98만 원 = 수수료의 8~33% → 광고는 남음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 기억으로 수임 10건 중 1~2건. 신청의 81%가 휴대폰 번호만 남기는 간편 신청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4160520" y="331012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신청마다 수임 여부 기록(분기 1회)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6583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93268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675120" y="2075688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7배라 연 매출은 출원과 비슷하거나 더 큼 (전환율 같다고 가정)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검색자가 가장 짧게 머묾 → 페이지 문제 가능성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3035808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=&gt; action item: 분쟁 페이지를 리뉴얼 우선순위에, 폼보다 전화. 분쟁 광고는 줄이지 않음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11480" y="3657600"/>
            <a:ext cx="83210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" y="3657600"/>
            <a:ext cx="8101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보완  </a:t>
            </a:r>
            <a:pPr indent="0" marL="0"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유입 → 신청: 네이버 전환 추적 코드(신청 → 승인 → 설치) · 광고 외 경로 → 신청: GA4 폼 이벤트 · 전화로 바로 거는 사람: 휴대폰 번호 클릭 기록, 사이트 전용 착신 번호 · 신청 → 수임: 신청 글에 수임 여부 기록</a:t>
            </a:r>
            <a:endParaRPr lang="en-US" sz="750" dirty="0"/>
          </a:p>
          <a:p>
            <a:pPr indent="0" marL="0">
              <a:buNone/>
            </a:pPr>
            <a:r>
              <a:rPr lang="en-US" sz="7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 </a:t>
            </a:r>
            <a:pPr indent="0" marL="0"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작음(90일 신청 15, 광고 유입 120) · 봇 제거는 추정 · 원인은 다음 중단만 확인, 블로그·검색은 추정 · 수임률·수수료는 변리사 기억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411480" y="4169664"/>
            <a:ext cx="8321040" cy="256032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21208" y="4169664"/>
            <a:ext cx="8101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      </a:t>
            </a:r>
            <a:pPr indent="0" marL="0">
              <a:buNone/>
            </a:pPr>
            <a:r>
              <a:rPr lang="en-US" sz="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11480" y="4526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문자·게시판 2,141건, 서버 실제 방문, 네이버 광고 90일 + 같은 기간 게시판 15건, GA4 광고 유입 120세션(2026-09), Clarity 녹화 5건, 변리사 답(수임률·수수료)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2026-10-16T04:30:22Z</dcterms:created>
  <dcterms:modified xsi:type="dcterms:W3CDTF">2026-10-16T04:30:22Z</dcterms:modified>
</cp:coreProperties>
</file>