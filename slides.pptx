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0</c:v>
                </c:pt>
                <c:pt idx="6">
                  <c:v>163</c:v>
                </c:pt>
                <c:pt idx="7">
                  <c:v>0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2020·2022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308</c:v>
                </c:pt>
                <c:pt idx="6">
                  <c:v>0</c:v>
                </c:pt>
                <c:pt idx="7">
                  <c:v>72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75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F0F2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8개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9,375개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신청률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BFC7CA"/>
            </a:solidFill>
            <a:ln w="25400" cap="flat">
              <a:solidFill>
                <a:srgbClr val="BFC7CA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FC7CA"/>
              </a:solidFill>
              <a:ln w="9525" cap="flat">
                <a:solidFill>
                  <a:srgbClr val="BFC7C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번호만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상세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랜딩페이지 리뉴얼 — 데이터 분석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1089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신청이 2년 만에 4분의 1로 — 원인은 방문 반, 신청률 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206240" cy="310896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" y="12435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49961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</a:t>
            </a:r>
            <a:pPr indent="0" marL="0">
              <a:buNone/>
            </a:pPr>
            <a:r>
              <a:rPr lang="en-US" sz="105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308건(2020) → 72건(2022)</a:t>
            </a:r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 뒤로 회복 안 됨</a:t>
            </a:r>
            <a:endParaRPr lang="en-US" sz="10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810512"/>
          <a:ext cx="411480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703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3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3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1188720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2435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4996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셰이플리 분해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920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끊김. 광고는 원인 아님 (2장)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8개가 광고비 26%, 클릭률 1/8 (3장)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수임은 기록 없음 (4장)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880360"/>
            <a:ext cx="4114800" cy="14173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935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20040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뒤 신청 추적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352544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40740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방문(2024년 3,812)으로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유입경로별 방문자수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1089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신청이 준 2020→2022년, 끊긴 건 광고 밖 경로였다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78638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98755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615184" y="1097280"/>
            <a:ext cx="1097280" cy="2670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A40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2615184" y="11155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868680"/>
            <a:ext cx="32918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07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8A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남은 방문의 3분의 2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5760" y="4352544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440740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직접 유입에서 봇(OS가 Robot·Linux)을 뺌. *다 못 뺀 해(2016·17·19·25·26)는 연한 회색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방문자수 — 네이버 광고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1089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4분의 1이 거의 안 눌리는 검색어 8개에 쓰인다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78638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</a:t>
            </a:r>
            <a:pPr algn="ctr"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8개('특허'·'변리사' 등 한 단어)  </a:t>
            </a:r>
            <a:pPr algn="ctr" indent="0" marL="0">
              <a:buNone/>
            </a:pPr>
            <a:r>
              <a:rPr lang="en-US" sz="850" dirty="0">
                <a:solidFill>
                  <a:srgbClr val="C9D1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</a:t>
            </a:r>
            <a:pPr algn="ctr"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검색어 9,375개</a:t>
            </a:r>
            <a:endParaRPr lang="en-US" sz="8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005840"/>
          <a:ext cx="45720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20640" y="914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1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vs   </a:t>
            </a:r>
            <a:pPr indent="0" marL="0">
              <a:buNone/>
            </a:pPr>
            <a:r>
              <a:rPr lang="en-US" sz="24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400" dirty="0"/>
          </a:p>
          <a:p>
            <a:pPr indent="0" marL="0"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클릭률: 포괄 검색어 vs 구체적 검색어. 8배 차이</a:t>
            </a:r>
            <a:endParaRPr lang="en-US" sz="2400" dirty="0"/>
          </a:p>
          <a:p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피셔 정확검정, 우연일 확률 0.1% 미만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절반만 눌림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검색어를 빼고 비교, 같은 검정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120640" y="2971800"/>
            <a:ext cx="3657600" cy="128016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30368" y="3044952"/>
            <a:ext cx="3474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4352544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440740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방문당 신청률 · 수임 전환율 · 수임당 매출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1089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신청률은 반토막, 신청 뒤는 기록조차 없다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2743200" cy="3493008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8503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8813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방문당 신청률(%)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261872"/>
          <a:ext cx="26517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90672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2.1%(2022). 당시 이유는 기록 없음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지금: 광고 방문 중앙값 18초, 27%가 5초 안에 나감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95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0" y="804672"/>
            <a:ext cx="2743200" cy="3493008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91840" y="8503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08813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 → 대신 본 것: 신청 형태(건)</a:t>
            </a:r>
            <a:endParaRPr lang="en-US" sz="8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246120" y="1261872"/>
          <a:ext cx="26517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3291840" y="3090672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수임률은 기억으로 10건 중 1~2건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전화번호만 남김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3291840" y="3895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35040" y="804672"/>
            <a:ext cx="2743200" cy="3493008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26480" y="8503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126480" y="108813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수수료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13075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126480" y="3090672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수수료가 7배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126480" y="3895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65760" y="4352544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65760" y="440740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GA4 광고 유입 120세션(2026-09), 수수료는 사무소 수가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낮음(회색)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해야 할 것과 한계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1089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사이트로 신청률을 4.6%까지 — 연 150건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22960"/>
                <a:gridCol w="4663440"/>
                <a:gridCol w="22860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2·4장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2670048"/>
            <a:ext cx="8412480" cy="56692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2670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 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신청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105건 → 150건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(2024년 → 2020년 수준)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34670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35844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경로별 방문은 연도 합계  /  신청 뒤(전화·수임) 데이터 없음  /  광고는 클릭까지만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931920"/>
            <a:ext cx="8412480" cy="329184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" y="39319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43525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2026-10-15T06:58:56Z</dcterms:created>
  <dcterms:modified xsi:type="dcterms:W3CDTF">2026-10-15T06:58:56Z</dcterms:modified>
</cp:coreProperties>
</file>