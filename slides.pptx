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신청</c:v>
                </c:pt>
              </c:strCache>
            </c:strRef>
          </c:tx>
          <c:spPr>
            <a:solidFill>
              <a:srgbClr val="B8B6B0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  <c:pt idx="4">
                    <c:v>2018</c:v>
                  </c:pt>
                  <c:pt idx="5">
                    <c:v>2019</c:v>
                  </c:pt>
                  <c:pt idx="6">
                    <c:v>2020</c:v>
                  </c:pt>
                  <c:pt idx="7">
                    <c:v>2021</c:v>
                  </c:pt>
                  <c:pt idx="8">
                    <c:v>2022</c:v>
                  </c:pt>
                  <c:pt idx="9">
                    <c:v>2023</c:v>
                  </c:pt>
                  <c:pt idx="10">
                    <c:v>2024</c:v>
                  </c:pt>
                  <c:pt idx="11">
                    <c:v>2025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111</c:v>
                </c:pt>
                <c:pt idx="1">
                  <c:v>506</c:v>
                </c:pt>
                <c:pt idx="2">
                  <c:v>284</c:v>
                </c:pt>
                <c:pt idx="3">
                  <c:v>308</c:v>
                </c:pt>
                <c:pt idx="4">
                  <c:v>301</c:v>
                </c:pt>
                <c:pt idx="5">
                  <c:v>223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92</c:v>
                </c:pt>
                <c:pt idx="10">
                  <c:v>105</c:v>
                </c:pt>
                <c:pt idx="11">
                  <c:v>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급감 구간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  <c:pt idx="4">
                    <c:v>2018</c:v>
                  </c:pt>
                  <c:pt idx="5">
                    <c:v>2019</c:v>
                  </c:pt>
                  <c:pt idx="6">
                    <c:v>2020</c:v>
                  </c:pt>
                  <c:pt idx="7">
                    <c:v>2021</c:v>
                  </c:pt>
                  <c:pt idx="8">
                    <c:v>2022</c:v>
                  </c:pt>
                  <c:pt idx="9">
                    <c:v>2023</c:v>
                  </c:pt>
                  <c:pt idx="10">
                    <c:v>2024</c:v>
                  </c:pt>
                  <c:pt idx="11">
                    <c:v>2025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308</c:v>
                </c:pt>
                <c:pt idx="7">
                  <c:v>163</c:v>
                </c:pt>
                <c:pt idx="8">
                  <c:v>72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0" i="0" strike="noStrike" sz="650" u="none">
                  <a:solidFill>
                    <a:srgbClr val="0B0B0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</c:v>
                </c:pt>
              </c:strCache>
            </c:strRef>
          </c:tx>
          <c:spPr>
            <a:solidFill>
              <a:srgbClr val="B8B6B0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2015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2025*</c:v>
                  </c:pt>
                  <c:pt idx="8">
                    <c:v>2026*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11253</c:v>
                </c:pt>
                <c:pt idx="1">
                  <c:v>9345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3910</c:v>
                </c:pt>
                <c:pt idx="6">
                  <c:v>3812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급감 구간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2015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2025*</c:v>
                  </c:pt>
                  <c:pt idx="8">
                    <c:v>2026*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6648</c:v>
                </c:pt>
                <c:pt idx="3">
                  <c:v>4776</c:v>
                </c:pt>
                <c:pt idx="4">
                  <c:v>3397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신뢰 낮음</c:v>
                </c:pt>
              </c:strCache>
            </c:strRef>
          </c:tx>
          <c:spPr>
            <a:solidFill>
              <a:srgbClr val="E3E8EA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2015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2025*</c:v>
                  </c:pt>
                  <c:pt idx="8">
                    <c:v>2026*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8887</c:v>
                </c:pt>
                <c:pt idx="8">
                  <c:v>8799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0" i="0" strike="noStrike" sz="650" u="none">
                  <a:solidFill>
                    <a:srgbClr val="0B0B0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네이버 검색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2016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2024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4902</c:v>
                </c:pt>
                <c:pt idx="1">
                  <c:v>2980</c:v>
                </c:pt>
                <c:pt idx="2">
                  <c:v>2220</c:v>
                </c:pt>
                <c:pt idx="3">
                  <c:v>1193</c:v>
                </c:pt>
                <c:pt idx="4">
                  <c:v>1028</c:v>
                </c:pt>
                <c:pt idx="5">
                  <c:v>1278</c:v>
                </c:pt>
                <c:pt idx="6">
                  <c:v>776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네이버 광고</c:v>
                </c:pt>
              </c:strCache>
            </c:strRef>
          </c:tx>
          <c:spPr>
            <a:solidFill>
              <a:srgbClr val="EDA100"/>
            </a:solidFill>
            <a:ln w="25400" cap="flat">
              <a:solidFill>
                <a:srgbClr val="EDA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EDA100"/>
              </a:solidFill>
              <a:ln w="9525" cap="flat">
                <a:solidFill>
                  <a:srgbClr val="EDA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2016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2024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296</c:v>
                </c:pt>
                <c:pt idx="1">
                  <c:v>326</c:v>
                </c:pt>
                <c:pt idx="2">
                  <c:v>472</c:v>
                </c:pt>
                <c:pt idx="3">
                  <c:v>368</c:v>
                </c:pt>
                <c:pt idx="4">
                  <c:v>283</c:v>
                </c:pt>
                <c:pt idx="5">
                  <c:v>334</c:v>
                </c:pt>
                <c:pt idx="6">
                  <c:v>203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다음</c:v>
                </c:pt>
              </c:strCache>
            </c:strRef>
          </c:tx>
          <c:spPr>
            <a:solidFill>
              <a:srgbClr val="1BAF7A"/>
            </a:solidFill>
            <a:ln w="2540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2016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2024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1267</c:v>
                </c:pt>
                <c:pt idx="1">
                  <c:v>955</c:v>
                </c:pt>
                <c:pt idx="2">
                  <c:v>644</c:v>
                </c:pt>
                <c:pt idx="3">
                  <c:v>273</c:v>
                </c:pt>
                <c:pt idx="4">
                  <c:v>7</c:v>
                </c:pt>
                <c:pt idx="5">
                  <c:v>59</c:v>
                </c:pt>
                <c:pt idx="6">
                  <c:v>131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네이버 블로그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2016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2024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2555</c:v>
                </c:pt>
                <c:pt idx="1">
                  <c:v>764</c:v>
                </c:pt>
                <c:pt idx="2">
                  <c:v>600</c:v>
                </c:pt>
                <c:pt idx="3">
                  <c:v>118</c:v>
                </c:pt>
                <c:pt idx="4">
                  <c:v>43</c:v>
                </c:pt>
                <c:pt idx="5">
                  <c:v>42</c:v>
                </c:pt>
                <c:pt idx="6">
                  <c:v>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"/>
        </c:scaling>
        <c:delete val="0"/>
        <c:axPos val="l"/>
        <c:majorGridlines>
          <c:spPr>
            <a:ln w="6350" cap="flat">
              <a:solidFill>
                <a:srgbClr val="E6E5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0B0B0B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구체적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#&quot;%&quot;;;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심사관 출신 (11)</c:v>
                  </c:pt>
                  <c:pt idx="1">
                    <c:v>지역명 (69)</c:v>
                  </c:pt>
                  <c:pt idx="2">
                    <c:v>기술 분야 (59)</c:v>
                  </c:pt>
                  <c:pt idx="3">
                    <c:v>방법·절차·비용 (24)</c:v>
                  </c:pt>
                  <c:pt idx="4">
                    <c:v>상표 (6)</c:v>
                  </c:pt>
                  <c:pt idx="5">
                    <c:v>분쟁 (21)</c:v>
                  </c:pt>
                  <c:pt idx="6">
                    <c:v>일반: 특허·변리사·특허사무소 (166)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1.9</c:v>
                </c:pt>
                <c:pt idx="2">
                  <c:v>1.7</c:v>
                </c:pt>
                <c:pt idx="3">
                  <c:v>0.6</c:v>
                </c:pt>
                <c:pt idx="4">
                  <c:v>0.6</c:v>
                </c:pt>
                <c:pt idx="5">
                  <c:v>0.33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포괄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#&quot;%&quot;;;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심사관 출신 (11)</c:v>
                  </c:pt>
                  <c:pt idx="1">
                    <c:v>지역명 (69)</c:v>
                  </c:pt>
                  <c:pt idx="2">
                    <c:v>기술 분야 (59)</c:v>
                  </c:pt>
                  <c:pt idx="3">
                    <c:v>방법·절차·비용 (24)</c:v>
                  </c:pt>
                  <c:pt idx="4">
                    <c:v>상표 (6)</c:v>
                  </c:pt>
                  <c:pt idx="5">
                    <c:v>분쟁 (21)</c:v>
                  </c:pt>
                  <c:pt idx="6">
                    <c:v>일반: 특허·변리사·특허사무소 (166)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0.12</c:v>
                </c:pt>
              </c:numCache>
            </c:numRef>
          </c:val>
        </c:ser>
        <c:dLbls>
          <c:numFmt formatCode="0.0#&quot;%&quot;;;;" sourceLinked="0"/>
          <c:txPr>
            <a:bodyPr/>
            <a:lstStyle/>
            <a:p>
              <a:pPr>
                <a:defRPr b="0" i="0" strike="noStrike" sz="850" u="none">
                  <a:solidFill>
                    <a:srgbClr val="0B0B0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B8B6B0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광고비 134만→73만 원</c:v>
                  </c:pt>
                  <c:pt idx="1">
                    <c:v>클릭 671→388</c:v>
                  </c:pt>
                  <c:pt idx="2">
                    <c:v>클릭당 1,993→1,891원</c:v>
                  </c:pt>
                  <c:pt idx="3">
                    <c:v>신청 18→15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광고비 134만→73만 원</c:v>
                  </c:pt>
                  <c:pt idx="1">
                    <c:v>클릭 671→388</c:v>
                  </c:pt>
                  <c:pt idx="2">
                    <c:v>클릭당 1,993→1,891원</c:v>
                  </c:pt>
                  <c:pt idx="3">
                    <c:v>신청 18→15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58</c:v>
                </c:pt>
                <c:pt idx="2">
                  <c:v>95</c:v>
                </c:pt>
                <c:pt idx="3">
                  <c:v>83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700" u="none">
                  <a:solidFill>
                    <a:srgbClr val="0B0B0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5초 안에 나감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기술 (21)</c:v>
                  </c:pt>
                  <c:pt idx="1">
                    <c:v>방법·비용 (12)</c:v>
                  </c:pt>
                  <c:pt idx="2">
                    <c:v>일반 (36)</c:v>
                  </c:pt>
                  <c:pt idx="3">
                    <c:v>지방 (24)</c:v>
                  </c:pt>
                  <c:pt idx="4">
                    <c:v>분쟁 (14)</c:v>
                  </c:pt>
                  <c:pt idx="5">
                    <c:v>전체 (120)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33</c:v>
                </c:pt>
                <c:pt idx="2">
                  <c:v>31</c:v>
                </c:pt>
                <c:pt idx="3">
                  <c:v>29</c:v>
                </c:pt>
                <c:pt idx="4">
                  <c:v>36</c:v>
                </c:pt>
                <c:pt idx="5">
                  <c:v>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30초 넘게 머묾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기술 (21)</c:v>
                  </c:pt>
                  <c:pt idx="1">
                    <c:v>방법·비용 (12)</c:v>
                  </c:pt>
                  <c:pt idx="2">
                    <c:v>일반 (36)</c:v>
                  </c:pt>
                  <c:pt idx="3">
                    <c:v>지방 (24)</c:v>
                  </c:pt>
                  <c:pt idx="4">
                    <c:v>분쟁 (14)</c:v>
                  </c:pt>
                  <c:pt idx="5">
                    <c:v>전체 (120)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38</c:v>
                </c:pt>
                <c:pt idx="1">
                  <c:v>50</c:v>
                </c:pt>
                <c:pt idx="2">
                  <c:v>36</c:v>
                </c:pt>
                <c:pt idx="3">
                  <c:v>21</c:v>
                </c:pt>
                <c:pt idx="4">
                  <c:v>14</c:v>
                </c:pt>
                <c:pt idx="5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B0B0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7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특허사무소 무료진단 신청 회복 — 랜딩 사이트·광고 개선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11480" y="685800"/>
            <a:ext cx="8321040" cy="292608"/>
          </a:xfrm>
          <a:prstGeom prst="rect">
            <a:avLst/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6858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매출  =  수임당 매출  ×  수임 전환율  ×  방문당 신청률  ×  방문수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04241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신청은 2020년 308건에서 2022년 72건으로, 2년 만에 4분의 1이 됐다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28016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연도별 신청 건수 (알림 문자 기준, 2026년은 10월까지라 제외)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38328" y="1444752"/>
          <a:ext cx="4297680" cy="114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11480" y="26334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방문자수는 2015년(11,253)부터 꾸준히 감소, 2022년부터 3,000명대 횡보. 신청 급감 구간에 6,648 → 3,397 절반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9992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방문 추정 = 전체 − 봇 추정(OS "Robot"·"Linux" 방문). 접속자통계 연도별·OS별 방문자, 같은 IP는 하루 1회. *2025·26은 신뢰 낮음(연한 색), 2026은 10-06까지</a:t>
            </a:r>
            <a:endParaRPr lang="en-US" sz="7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338328" y="3255264"/>
          <a:ext cx="4297680" cy="11521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937760" y="109728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133502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308건(2020) → 72건(2022), 회복 안 됨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 연 약 6,000만~1.2억 원 · 목표 연 150건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193852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215798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줄어든 236건 = 방문 </a:t>
            </a:r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47%</a:t>
            </a:r>
            <a:pPr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신청률 </a:t>
            </a:r>
            <a:pPr indent="0" marL="0">
              <a:buNone/>
            </a:pPr>
            <a:r>
              <a:rPr lang="en-US" sz="15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53%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937760" y="248716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방문은 다음·블로그·네이버 검색에서 줄었고 광고는 원인 아님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광고비 26%를 쓰는 포괄 검색어 8개의 클릭률은 구체적 검색어의 8분의 1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4937760" y="32918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해결책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4937760" y="3511296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랜딩 사이트: 글자로, 첫 화면에 신청 칸, 분쟁 페이지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광고: 포괄 검색어 입찰 낮추기, 제외 키워드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기록: 신청마다 수임 여부, 광고 신청 추적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11480" y="4480560"/>
            <a:ext cx="8321040" cy="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11480" y="4526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관리자 페이지 문자 전송내역 2014-11 ~ 2026-10-05, 2,895건 → 스팸 254건 제외 2,641건. 접속자통계 연도별·OS별 방문자(같은 IP는 하루 1회). 236건 분해는 셰이플리(순서에 따라 36~71%라 평균)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 추정 근거: 2021-10부터 방문이 월 900 → 2,100인데 신청은 월 12 → 5. 급증분은 전부 유입 경로 없는 "직접", 시간대 0~23시 고름. 2025 신뢰 낮음: Robot 8,848 급증, Chrome도 두 배인데 신청은 그대로 → Chrome인 척하는 자동 접속 추정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 = 연 200건 감소 × 수임 10~20% × 수수료 300만 원. 목표 = 방문 3,812(2024) 그대로 두고 신청률만 4.6%로 되돌리면 177건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유입경로별 방문자수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400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2020→2022년에 끊긴 것은 다음·블로그·네이버 검색. 광고는 가장 덜 감소 → 신청 감소의 원인은 광고가 아님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7782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접속자통계 / 유입 도메인별 방문 8종 / 2016 ~ 2026-10-06 / "직접"(봇 대부분) 제외 / 서버는 유입 경로를 놓치는 경우가 많아 추이로만 봄 (광고 보고서 90일 클릭 388 vs 서버 9달 203)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063240" y="1188720"/>
            <a:ext cx="2148840" cy="1188720"/>
          </a:xfrm>
          <a:prstGeom prst="rect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63240" y="1060704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급감 구간</a:t>
            </a:r>
            <a:endParaRPr lang="en-US" sz="7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1078992"/>
          <a:ext cx="845820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11480" y="26517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2020→22:  네이버 광고 −40% · 네이버 검색 −54% · 네이버 블로그 −93% · 다음 −99% · 신청(문자) −77%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1480" y="2907792"/>
            <a:ext cx="45720" cy="1517904"/>
          </a:xfrm>
          <a:prstGeom prst="rect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29077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AF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1-2 다음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3108960"/>
            <a:ext cx="19202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변리사 답: 다음 광고·등록 중단. 그 외 사무소 내부 변화 없음</a:t>
            </a:r>
            <a:endParaRPr lang="en-US" sz="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2015~2020년 연 640~1,620 → 2022년 7</a:t>
            </a:r>
            <a:endParaRPr lang="en-US" sz="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=&gt; 확인된 원인. 중단 시점이 2021-05이면 신청이 처음 꺾인 달(2장)과 일치</a:t>
            </a:r>
            <a:endParaRPr lang="en-US" sz="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=&gt; action item: 다음(카카오) 재개. 2020년 수준(644)이면 연 30건, 수임 3~6건 = 매출 연 900만~1,800만 원. 비용은 네이버 단가(1,891원)면 연 약 120만 원. 손익분기 클릭당 14,000~28,000원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2514600" y="2907792"/>
            <a:ext cx="45720" cy="1517904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06040" y="29077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1-3 블로그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606040" y="3108960"/>
            <a:ext cx="19202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 2,736건의 날짜·제목, 최근 50건 본문 / 2014 ~ 2026</a:t>
            </a:r>
            <a:endParaRPr lang="en-US" sz="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=&gt; 글의 양은 원인 아님 (가장 많이 쓴 2020~21년에 600 → 118)</a:t>
            </a:r>
            <a:endParaRPr lang="en-US" sz="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=&gt; 후보 1: 글 형태 변화(읽을 글 → 실적 리스트). 2016년 정점 뒤 계단식 감소와 일치</a:t>
            </a:r>
            <a:endParaRPr lang="en-US" sz="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=&gt; 후보 2: 네이버 노출 방식 변화(2016 C-Rank, 2018 VIEW, 2021-10 스마트블록). 둘이 겹친 것으로 봄</a:t>
            </a:r>
            <a:endParaRPr lang="en-US" sz="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=&gt; action item: 읽을 내용이 있는 글로. 광고비 없는 경로지만 효과는 몇 년, 네이버에 달림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4617720" y="2907792"/>
            <a:ext cx="45720" cy="1517904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09160" y="29077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1-4 네이버 검색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709160" y="3108960"/>
            <a:ext cx="19202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아닌 네이버 검색 결과에서 온 방문. 4,902(2016) → 2,220(2020) → 1,028(2022) → 776(2026). 블로그와 같은 시기, 같은 방향</a:t>
            </a:r>
            <a:endParaRPr lang="en-US" sz="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=&gt; 사이트 쪽(글자가 전부 이미지라 검색엔진이 못 읽음) + 네이버 쪽(1-3과 같은 개편). 과거 검색 순위 자료가 없어 비중은 모름</a:t>
            </a:r>
            <a:endParaRPr lang="en-US" sz="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=&gt; action item: 리뉴얼로 글자를 텍스트로. 그 뒤 유입이 늘면 사이트 쪽 원인이 컸던 것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6720840" y="2907792"/>
            <a:ext cx="45720" cy="1517904"/>
          </a:xfrm>
          <a:prstGeom prst="rect">
            <a:avLst/>
          </a:prstGeom>
          <a:solidFill>
            <a:srgbClr val="C08A00"/>
          </a:solidFill>
          <a:ln w="12700">
            <a:solidFill>
              <a:srgbClr val="C08A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12280" y="29077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8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1-5 네이버 광고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6812280" y="3108960"/>
            <a:ext cx="19202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옛 사이트 세션(1개월) 약 180, 그중 광고 주소로 온 방문 120 (GA4). 기기: 신청 페이지 142명 중 모바일 44%</a:t>
            </a:r>
            <a:endParaRPr lang="en-US" sz="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=&gt; 실제 방문의 3분의 2가 광고 → 랜딩은 광고 방문자 기준, 휴대폰부터 (사이트는 PC 폭 고정)</a:t>
            </a:r>
            <a:endParaRPr lang="en-US" sz="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=&gt; 첫 화면 경유는 광고 검색어가 사라지고 조회수가 두 번 셈</a:t>
            </a:r>
            <a:endParaRPr lang="en-US" sz="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=&gt; action item: 리뉴얼에서는 광고가 바로 해당 페이지로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411480" y="4480560"/>
            <a:ext cx="8321040" cy="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11480" y="4526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관리자 페이지 접속자통계(유입 도메인별), 사무소 네이버 블로그 글 목록, GA4 2026-09-02 ~ 10-01(작업자 접속 섞인 "직접" 69세션 제외). 변리사 답은 기억에 의한 값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방문자수 — 네이버 광고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11480" y="676656"/>
            <a:ext cx="2682240" cy="457200"/>
          </a:xfrm>
          <a:prstGeom prst="rect">
            <a:avLst/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694944"/>
            <a:ext cx="249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방문의 3분의 2가 광고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914400"/>
            <a:ext cx="249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 세션 약 180 중 광고 주소로 온 120 (GA4)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30880" y="676656"/>
            <a:ext cx="2682240" cy="457200"/>
          </a:xfrm>
          <a:prstGeom prst="rect">
            <a:avLst/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22320" y="694944"/>
            <a:ext cx="249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44%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322320" y="914400"/>
            <a:ext cx="249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페이지 142명 중 62. 옛 사이트는 PC 폭 고정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050280" y="676656"/>
            <a:ext cx="2682240" cy="457200"/>
          </a:xfrm>
          <a:prstGeom prst="rect">
            <a:avLst/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41720" y="694944"/>
            <a:ext cx="249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90일 노출 195,455 · 클릭 388 · 733,728원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141720" y="914400"/>
            <a:ext cx="249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클릭률 0.2% · 클릭당 1,891원 · 전환 측정 없음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124358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특허·변리사 같은 일반 검색어는 1만 번 보여야 12번 눌린다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148132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검색어 유형별 클릭률 · 괄호는 90일 클릭 수 · 클릭당 비용은 유형과 상관없이 2,000원 안팎(지역명만 706원)</a:t>
            </a:r>
            <a:endParaRPr lang="en-US" sz="8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320040" y="1700784"/>
          <a:ext cx="475488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5440680" y="12435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포괄 검색어 8개 vs 구체적 검색어 (모든 광고그룹)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5440680" y="14630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0.06%</a:t>
            </a:r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vs  </a:t>
            </a:r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0.50%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5440680" y="18470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포괄 검색어가 노출 68%, 광고비 26%를 쓰고 클릭은 20%. 클릭당 비용은 같음(2,547원 대 2,434원). 피셔, 우연일 확률 0.1% 미만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검색은 직접 등록한 키워드의 절반만 눌림(0.32% 대 0.61%)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5440680" y="243230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작년 정리로 광고비 −45%에 신청은 −17%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5440680" y="26700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작년 정리 전후, 같은 90일. 2025년을 100으로. 18→15는 우연일 확률 73%(이항), 광고비대로 줄었다면 15건 이상일 확률 8%(포아송)</a:t>
            </a:r>
            <a:endParaRPr lang="en-US" sz="800" dirty="0"/>
          </a:p>
        </p:txBody>
      </p:sp>
      <p:graphicFrame>
        <p:nvGraphicFramePr>
          <p:cNvPr id="20" name="Chart 1" descr=""/>
          <p:cNvGraphicFramePr/>
          <p:nvPr/>
        </p:nvGraphicFramePr>
        <p:xfrm>
          <a:off x="5394960" y="2834640"/>
          <a:ext cx="3383280" cy="9326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Shape 17"/>
          <p:cNvSpPr/>
          <p:nvPr/>
        </p:nvSpPr>
        <p:spPr>
          <a:xfrm>
            <a:off x="5440680" y="3822192"/>
            <a:ext cx="3291840" cy="603504"/>
          </a:xfrm>
          <a:prstGeom prst="rect">
            <a:avLst/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532120" y="38587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뺌: 특허·특허법인·변리사·특허사무소 입찰 낮추거나 제외("특허출원"은 남김). 확장 검색은 성적 나쁜 그룹부터 끔, "변리사파견" 등 무관 노출 정리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늘림: 지방 키워드(클릭률 1.9%, 클릭당 706원, 변리사 선호), 심사관출신 그룹(클릭률 1위, 비용 2.5%)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411480" y="4480560"/>
            <a:ext cx="8321040" cy="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11480" y="4526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네이버 검색광고 검색어 보고서 2026-07-06 ~ 10-03(90일, 27,277행), 비교용 2025-07-02 ~ 09-29. GA4 2026-09-02 ~ 10-01(작업자 접속 69세션 제외)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검색어 9,383개를 글자 규칙으로 유형 분류(클릭 난 231개는 검산). 한계: 전환 측정이 없어 클릭까지만 봄. 확장 검색의 실제 검색어는 보고서에 안 나옴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방문당 신청률 · 수임 전환율 · 수임당 매출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069080" y="658368"/>
            <a:ext cx="0" cy="370332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658368"/>
            <a:ext cx="0" cy="370332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6583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방문당 신청률 (2장)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8778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4.6% → 2.1%</a:t>
            </a:r>
            <a:pPr indent="0" marL="0">
              <a:buNone/>
            </a:pPr>
            <a:r>
              <a:rPr lang="en-US" sz="8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2020 → 2022, 절반. 방문도 절반 → 신청 4분의 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1261872"/>
            <a:ext cx="713232" cy="402336"/>
          </a:xfrm>
          <a:prstGeom prst="roundRect">
            <a:avLst>
              <a:gd name="adj" fmla="val 11364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" y="1280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</a:t>
            </a:r>
            <a:endParaRPr lang="en-US" sz="7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195,455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124712" y="1371600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0.2%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362456" y="1261872"/>
            <a:ext cx="713232" cy="402336"/>
          </a:xfrm>
          <a:prstGeom prst="roundRect">
            <a:avLst>
              <a:gd name="adj" fmla="val 11364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99032" y="1280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</a:t>
            </a:r>
            <a:endParaRPr lang="en-US" sz="7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388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075688" y="1371600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3.9%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313432" y="1261872"/>
            <a:ext cx="713232" cy="402336"/>
          </a:xfrm>
          <a:prstGeom prst="roundRect">
            <a:avLst>
              <a:gd name="adj" fmla="val 11364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50008" y="1280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폼 신청</a:t>
            </a:r>
            <a:endParaRPr lang="en-US" sz="7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3026664" y="1371600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10~20%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264408" y="1261872"/>
            <a:ext cx="713232" cy="402336"/>
          </a:xfrm>
          <a:prstGeom prst="roundRect">
            <a:avLst>
              <a:gd name="adj" fmla="val 11364"/>
            </a:avLst>
          </a:prstGeom>
          <a:solidFill>
            <a:srgbClr val="7AA9E6"/>
          </a:solidFill>
          <a:ln w="12700">
            <a:solidFill>
              <a:srgbClr val="7AA9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00984" y="1280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수임 추정</a:t>
            </a:r>
            <a:endParaRPr lang="en-US" sz="7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1.5~3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6916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100번 눌리면 4명 신청, 수임은 1건 미만(90일). 수임 1건당 광고비 24만~98만 원 = 수수료의 8~33% → 광고는 남음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20299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광고로 온 사람 4명 중 1명은 5초 안에 나간다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22677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검색어 유형별 체류(%) · 괄호는 사람 수, 수가 작아 경향</a:t>
            </a:r>
            <a:endParaRPr lang="en-US" sz="8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38328" y="2441448"/>
          <a:ext cx="3675888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411480" y="38587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18초 안에 "누가·무엇을·무료로", 읽기 끝에 간편 신청, 휴대폰 대응, 비용·절차 블록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4160520" y="65836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수임 전환율 (3장)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4160520" y="87782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없음</a:t>
            </a:r>
            <a:pPr indent="0" marL="0">
              <a:buNone/>
            </a:pPr>
            <a:r>
              <a:rPr lang="en-US" sz="8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신청 뒤는 전화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4160520" y="128016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변리사 기억으로 수임 10건 중 1~2건. 직접 전화 문의 월 5건 이내, 어디서 번호를 봤는지 모름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신청의 81%가 휴대폰 번호만 남기는 간편 신청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 신청은 평일의 절반(z, 우연일 확률 0.1% 미만). 0~7시 신청 13%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 문의가 폼만큼 있는데 안 잡힘. 휴대폰(44%)은 번호 클릭으로 셀 수 있고 PC는 못 셈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4160520" y="349300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휴대폰 번호 클릭 기록, PC는 전용 착신 번호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수임 여부는 분기 1회 기록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간편 신청 유지, 0~7시 신청에 "오전 8시 이후 연락"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6675120" y="65836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수임당 매출 (4장)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6675120" y="932688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출원  </a:t>
            </a:r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300만 원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신청의 94% (2,021건)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분쟁  </a:t>
            </a:r>
            <a:pPr indent="0" marL="0">
              <a:buNone/>
            </a:pPr>
            <a:r>
              <a:rPr lang="en-US" sz="15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2,000만 원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신청의 6% (120건)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6675120" y="2075688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수수료 7배라 연 매출은 출원과 비슷하거나 더 큼 (2,300만~4,600만 vs 2,700만~5,300만, 전환율 같다고 가정)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분쟁 신청은 전체 감소 뒤에도 안 줄음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분쟁 검색자가 가장 짧게 머묾 → 페이지 문제 가능성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6675120" y="349300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분쟁 페이지를 리뉴얼 우선순위에, 폼보다 전화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분쟁 광고는 줄이지 않음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4480560"/>
            <a:ext cx="8321040" cy="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11480" y="4526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알림 문자·게시판(2,141건) ÷ 서버 실제 방문(슬라이드 2), 네이버 광고 90일 + 같은 기간 게시판 15건, GA4 광고 유입 120세션, Clarity 녹화 5건, 변리사 답(수임률·수수료·문의)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한계: 수임률·수수료는 기록이 아닌 기억에 의한 대략의 값. 유형별 체류 차이는 우연일 확률 6~22%라 경향. 분쟁 매출은 전환율을 출원과 같다고 가정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것과 한계</a:t>
            </a:r>
            <a:endParaRPr lang="en-US" sz="1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676656"/>
          <a:ext cx="83210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685800"/>
                <a:gridCol w="4846320"/>
                <a:gridCol w="19202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움직이는 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1-4·2-2·4-1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나(개발)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사이트: 글자를 텍스트로, 첫 화면 신청 칸, 분쟁 페이지, 휴대폰. 변리사 확인 뒤 공개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방문당 신청률, 네이버 검색 방문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1-6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변리사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포괄 검색어 입찰 낮추기·제외, 확장 검색 정리, 지방·심사관출신 늘리기 (4주 단위)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광고 클릭률, 광고비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3-1·5-1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변리사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신청마다 수임 여부 기록(분기 1회), 네이버 전환 추적(신청함, 승인 뒤 설치)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수임 전환율, 검색어별 신청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1-2·1-3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변리사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광고 재개 결정, 블로그는 읽을 내용이 있는 글로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다음·블로그 방문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11480" y="2048256"/>
            <a:ext cx="8321040" cy="384048"/>
          </a:xfrm>
          <a:prstGeom prst="rect">
            <a:avLst/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20482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 </a:t>
            </a:r>
            <a:pPr indent="0" marL="0">
              <a:buNone/>
            </a:pPr>
            <a:r>
              <a:rPr lang="en-US" sz="10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방문당 신청률 </a:t>
            </a:r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2.8% → 4.6%</a:t>
            </a:r>
            <a:pPr indent="0" marL="0">
              <a:buNone/>
            </a:pPr>
            <a:r>
              <a:rPr lang="en-US" sz="10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이면 지금 방문(3,812)으로 연 177건  →  목표 </a:t>
            </a:r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150건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25420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설치한 측정 (5-1, 2026-10-06 옛 사이트에)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2761488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GA4: 광고 유입을 광고/검색어/광고그룹으로, 입구 구분(출원/분쟁/간편), 폼 시작·제출·완료 이벤트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글에 유입 경로·검색어 저장(DB 미확인), 첫 화면 검색어를 신청 페이지로 넘김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Clarity 녹화. 옛 UA 코드 제거, 작업자 IP 차단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전환 추적: 서비스 신청함, 승인 뒤 설치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25420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(5-2)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4709160" y="2761488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표본: 광고 90일 신청 15건, 광고 유입 120건 · 기간: 광고 90일, GA4 1개월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통계: 봇 제거는 추정, 경로는 추이, 2025년 이후 신뢰 낮음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2021년 원인: 다음 중단만 확인, 블로그·네이버 검색은 추정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수임 전환율 데이터 없음 · 변리사 답은 기억에 의한 값 · 구글 미검토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검정: 포괄 vs 구체적 클릭률·지역명·주말 신청은 우연일 확률 0.1% 미만(피셔·z). 신청 18→15는 73%(이항), 유형별 체류 6~22%(피셔)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11480" y="4023360"/>
            <a:ext cx="8321040" cy="274320"/>
          </a:xfrm>
          <a:prstGeom prst="rect">
            <a:avLst/>
          </a:prstGeom>
          <a:solidFill>
            <a:srgbClr val="FFF3C4"/>
          </a:solidFill>
          <a:ln w="12700">
            <a:solidFill>
              <a:srgbClr val="E0C06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1208" y="4023360"/>
            <a:ext cx="8101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확인  </a:t>
            </a:r>
            <a:pPr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변리사가 리포트를 읽고 action item을 반영하겠다고 답함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11480" y="45354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사용  </a:t>
            </a:r>
            <a:pPr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코드·차트·초안은 Claude Code, 문제 정의·구조·검증은 사람. 자세한 내용은 GitHub README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특허사무소 무료진단 신청 회복 — 랜딩 사이트·광고 개선</dc:title>
  <dc:subject>PptxGenJS Presentation</dc:subject>
  <dc:creator>PptxGenJS</dc:creator>
  <cp:lastModifiedBy>PptxGenJS</cp:lastModifiedBy>
  <cp:revision>1</cp:revision>
  <dcterms:created xsi:type="dcterms:W3CDTF">2026-10-16T04:16:23Z</dcterms:created>
  <dcterms:modified xsi:type="dcterms:W3CDTF">2026-10-16T04:16:23Z</dcterms:modified>
</cp:coreProperties>
</file>