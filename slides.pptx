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5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신청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111</c:v>
                </c:pt>
                <c:pt idx="1">
                  <c:v>506</c:v>
                </c:pt>
                <c:pt idx="2">
                  <c:v>284</c:v>
                </c:pt>
                <c:pt idx="3">
                  <c:v>308</c:v>
                </c:pt>
                <c:pt idx="4">
                  <c:v>301</c:v>
                </c:pt>
                <c:pt idx="5">
                  <c:v>223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92</c:v>
                </c:pt>
                <c:pt idx="10">
                  <c:v>105</c:v>
                </c:pt>
                <c:pt idx="11">
                  <c:v>87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Sheet1!$A$2:$A$13</c:f>
              <c:multiLvlStrCache>
                <c:ptCount val="12"/>
                <c:lvl>
                  <c:pt idx="0">
                    <c:v>2014</c:v>
                  </c:pt>
                  <c:pt idx="1">
                    <c:v>2015</c:v>
                  </c:pt>
                  <c:pt idx="2">
                    <c:v>2016</c:v>
                  </c:pt>
                  <c:pt idx="3">
                    <c:v>2017</c:v>
                  </c:pt>
                  <c:pt idx="4">
                    <c:v>2018</c:v>
                  </c:pt>
                  <c:pt idx="5">
                    <c:v>2019</c:v>
                  </c:pt>
                  <c:pt idx="6">
                    <c:v>2020</c:v>
                  </c:pt>
                  <c:pt idx="7">
                    <c:v>2021</c:v>
                  </c:pt>
                  <c:pt idx="8">
                    <c:v>2022</c:v>
                  </c:pt>
                  <c:pt idx="9">
                    <c:v>2023</c:v>
                  </c:pt>
                  <c:pt idx="10">
                    <c:v>2024</c:v>
                  </c:pt>
                  <c:pt idx="11">
                    <c:v>2025</c:v>
                  </c:pt>
                </c:lvl>
              </c:multiLvlStrCache>
            </c:multiLvl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308</c:v>
                </c:pt>
                <c:pt idx="7">
                  <c:v>163</c:v>
                </c:pt>
                <c:pt idx="8">
                  <c:v>72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8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방문</c:v>
                </c:pt>
              </c:strCache>
            </c:strRef>
          </c:tx>
          <c:spPr>
            <a:solidFill>
              <a:srgbClr val="B8B6B0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11253</c:v>
                </c:pt>
                <c:pt idx="1">
                  <c:v>9345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3910</c:v>
                </c:pt>
                <c:pt idx="6">
                  <c:v>3812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급감 구간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2015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2023</c:v>
                  </c:pt>
                  <c:pt idx="6">
                    <c:v>2024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6648</c:v>
                </c:pt>
                <c:pt idx="3">
                  <c:v>4776</c:v>
                </c:pt>
                <c:pt idx="4">
                  <c:v>3397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0" i="0" strike="noStrike" sz="7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네이버 검색</c:v>
                </c:pt>
              </c:strCache>
            </c:strRef>
          </c:tx>
          <c:spPr>
            <a:solidFill>
              <a:srgbClr val="2A78D6"/>
            </a:solidFill>
            <a:ln w="25400" cap="flat">
              <a:solidFill>
                <a:srgbClr val="2A78D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2A78D6"/>
              </a:solidFill>
              <a:ln w="9525" cap="flat">
                <a:solidFill>
                  <a:srgbClr val="2A78D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4902</c:v>
                </c:pt>
                <c:pt idx="1">
                  <c:v>2980</c:v>
                </c:pt>
                <c:pt idx="2">
                  <c:v>2220</c:v>
                </c:pt>
                <c:pt idx="3">
                  <c:v>1193</c:v>
                </c:pt>
                <c:pt idx="4">
                  <c:v>1028</c:v>
                </c:pt>
                <c:pt idx="5">
                  <c:v>1278</c:v>
                </c:pt>
                <c:pt idx="6">
                  <c:v>776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네이버 광고</c:v>
                </c:pt>
              </c:strCache>
            </c:strRef>
          </c:tx>
          <c:spPr>
            <a:solidFill>
              <a:srgbClr val="EDA100"/>
            </a:solidFill>
            <a:ln w="25400" cap="flat">
              <a:solidFill>
                <a:srgbClr val="EDA1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DA100"/>
              </a:solidFill>
              <a:ln w="9525" cap="flat">
                <a:solidFill>
                  <a:srgbClr val="EDA1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296</c:v>
                </c:pt>
                <c:pt idx="1">
                  <c:v>326</c:v>
                </c:pt>
                <c:pt idx="2">
                  <c:v>472</c:v>
                </c:pt>
                <c:pt idx="3">
                  <c:v>368</c:v>
                </c:pt>
                <c:pt idx="4">
                  <c:v>283</c:v>
                </c:pt>
                <c:pt idx="5">
                  <c:v>334</c:v>
                </c:pt>
                <c:pt idx="6">
                  <c:v>203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다음</c:v>
                </c:pt>
              </c:strCache>
            </c:strRef>
          </c:tx>
          <c:spPr>
            <a:solidFill>
              <a:srgbClr val="1BAF7A"/>
            </a:solidFill>
            <a:ln w="25400" cap="flat">
              <a:solidFill>
                <a:srgbClr val="1BAF7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1BAF7A"/>
              </a:solidFill>
              <a:ln w="9525" cap="flat">
                <a:solidFill>
                  <a:srgbClr val="1BAF7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1267</c:v>
                </c:pt>
                <c:pt idx="1">
                  <c:v>955</c:v>
                </c:pt>
                <c:pt idx="2">
                  <c:v>644</c:v>
                </c:pt>
                <c:pt idx="3">
                  <c:v>273</c:v>
                </c:pt>
                <c:pt idx="4">
                  <c:v>7</c:v>
                </c:pt>
                <c:pt idx="5">
                  <c:v>59</c:v>
                </c:pt>
                <c:pt idx="6">
                  <c:v>131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네이버 블로그</c:v>
                </c:pt>
              </c:strCache>
            </c:strRef>
          </c:tx>
          <c:spPr>
            <a:solidFill>
              <a:srgbClr val="EB6834"/>
            </a:solidFill>
            <a:ln w="25400" cap="flat">
              <a:solidFill>
                <a:srgbClr val="EB683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4"/>
            <c:spPr>
              <a:solidFill>
                <a:srgbClr val="EB6834"/>
              </a:solidFill>
              <a:ln w="9525" cap="flat">
                <a:solidFill>
                  <a:srgbClr val="EB683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2016</c:v>
                  </c:pt>
                  <c:pt idx="1">
                    <c:v>2018</c:v>
                  </c:pt>
                  <c:pt idx="2">
                    <c:v>2020</c:v>
                  </c:pt>
                  <c:pt idx="3">
                    <c:v>2021</c:v>
                  </c:pt>
                  <c:pt idx="4">
                    <c:v>2022</c:v>
                  </c:pt>
                  <c:pt idx="5">
                    <c:v>2024</c:v>
                  </c:pt>
                  <c:pt idx="6">
                    <c:v>2026</c:v>
                  </c:pt>
                </c:lvl>
              </c:multiLvlStrCache>
            </c:multiLvlStrRef>
          </c:cat>
          <c:val>
            <c:numRef>
              <c:f>Sheet1!$E$2:$E$8</c:f>
              <c:numCache>
                <c:formatCode>General</c:formatCode>
                <c:ptCount val="7"/>
                <c:pt idx="0">
                  <c:v>2555</c:v>
                </c:pt>
                <c:pt idx="1">
                  <c:v>764</c:v>
                </c:pt>
                <c:pt idx="2">
                  <c:v>600</c:v>
                </c:pt>
                <c:pt idx="3">
                  <c:v>118</c:v>
                </c:pt>
                <c:pt idx="4">
                  <c:v>43</c:v>
                </c:pt>
                <c:pt idx="5">
                  <c:v>42</c:v>
                </c:pt>
                <c:pt idx="6">
                  <c:v>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000"/>
        </c:scaling>
        <c:delete val="0"/>
        <c:axPos val="l"/>
        <c:majorGridlines>
          <c:spPr>
            <a:ln w="6350" cap="flat">
              <a:solidFill>
                <a:srgbClr val="E6E5E1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1000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r"/>
      <c:overlay val="0"/>
      <c:txPr>
        <a:bodyPr/>
        <a:lstStyle/>
        <a:p>
          <a:pPr>
            <a:defRPr sz="750">
              <a:solidFill>
                <a:srgbClr val="0B0B0B"/>
              </a:solidFill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구체적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</c:v>
                </c:pt>
                <c:pt idx="1">
                  <c:v>1.9</c:v>
                </c:pt>
                <c:pt idx="2">
                  <c:v>1.7</c:v>
                </c:pt>
                <c:pt idx="3">
                  <c:v>0.6</c:v>
                </c:pt>
                <c:pt idx="4">
                  <c:v>0.6</c:v>
                </c:pt>
                <c:pt idx="5">
                  <c:v>0.33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포괄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0.0#&quot;%&quot;;;;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심사관 출신 (11)</c:v>
                  </c:pt>
                  <c:pt idx="1">
                    <c:v>지역명 (69)</c:v>
                  </c:pt>
                  <c:pt idx="2">
                    <c:v>기술 분야 (59)</c:v>
                  </c:pt>
                  <c:pt idx="3">
                    <c:v>방법·절차·비용 (24)</c:v>
                  </c:pt>
                  <c:pt idx="4">
                    <c:v>상표 (6)</c:v>
                  </c:pt>
                  <c:pt idx="5">
                    <c:v>분쟁 (21)</c:v>
                  </c:pt>
                  <c:pt idx="6">
                    <c:v>일반: 특허·변리사·특허사무소 (166)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0.12</c:v>
                </c:pt>
              </c:numCache>
            </c:numRef>
          </c:val>
        </c:ser>
        <c:dLbls>
          <c:numFmt formatCode="0.0#&quot;%&quot;;;;" sourceLinked="0"/>
          <c:txPr>
            <a:bodyPr/>
            <a:lstStyle/>
            <a:p>
              <a:pPr>
                <a:defRPr b="0" i="0" strike="noStrike" sz="85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5초 안에 나감</c:v>
                </c:pt>
              </c:strCache>
            </c:strRef>
          </c:tx>
          <c:spPr>
            <a:solidFill>
              <a:srgbClr val="EB683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33</c:v>
                </c:pt>
                <c:pt idx="2">
                  <c:v>31</c:v>
                </c:pt>
                <c:pt idx="3">
                  <c:v>29</c:v>
                </c:pt>
                <c:pt idx="4">
                  <c:v>36</c:v>
                </c:pt>
                <c:pt idx="5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30초 넘게 머묾</c:v>
                </c:pt>
              </c:strCache>
            </c:strRef>
          </c:tx>
          <c:spPr>
            <a:solidFill>
              <a:srgbClr val="2A78D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700" u="none">
                    <a:solidFill>
                      <a:srgbClr val="0B0B0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기술 (21)</c:v>
                  </c:pt>
                  <c:pt idx="1">
                    <c:v>방법·비용 (12)</c:v>
                  </c:pt>
                  <c:pt idx="2">
                    <c:v>일반 (36)</c:v>
                  </c:pt>
                  <c:pt idx="3">
                    <c:v>지방 (24)</c:v>
                  </c:pt>
                  <c:pt idx="4">
                    <c:v>분쟁 (14)</c:v>
                  </c:pt>
                  <c:pt idx="5">
                    <c:v>전체 (120)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</c:v>
                </c:pt>
                <c:pt idx="1">
                  <c:v>50</c:v>
                </c:pt>
                <c:pt idx="2">
                  <c:v>36</c:v>
                </c:pt>
                <c:pt idx="3">
                  <c:v>21</c:v>
                </c:pt>
                <c:pt idx="4">
                  <c:v>14</c:v>
                </c:pt>
                <c:pt idx="5">
                  <c:v>31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700" u="none">
                  <a:solidFill>
                    <a:srgbClr val="0B0B0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52514E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>
            <a:alpha val="0"/>
          </a:srgbClr>
        </a:solidFill>
        <a:ln w="12700" cap="flat">
          <a:solidFill>
            <a:srgbClr val="FFFFFF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700">
              <a:latin typeface="Malgun Gothic"/>
              <a:cs typeface="Malgun Gothic"/>
            </a:defRPr>
          </a:pPr>
          <a:endParaRPr lang="en-US"/>
        </a:p>
      </c:txPr>
    </c:legend>
    <c:plotVisOnly val="1"/>
    <c:dispBlanksAs val="span"/>
  </c:chart>
  <c:spPr>
    <a:solidFill>
      <a:srgbClr val="FFFFFF">
        <a:alpha val="0"/>
      </a:srgbClr>
    </a:solidFill>
    <a:ln w="12700" cap="flat">
      <a:solidFill>
        <a:srgbClr val="FFFFFF"/>
      </a:solidFill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특허사무소 무료진단 신청 회복 — 랜딩 사이트·광고 개선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11480" y="685800"/>
            <a:ext cx="8321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총 매출  =  수임당 매출  ×  수임 전환율  ×  방문당 신청률  ×  방문수</a:t>
            </a:r>
            <a:endParaRPr lang="en-US" sz="1150" dirty="0"/>
          </a:p>
        </p:txBody>
      </p:sp>
      <p:sp>
        <p:nvSpPr>
          <p:cNvPr id="5" name="Text 3"/>
          <p:cNvSpPr txBox="1"/>
          <p:nvPr/>
        </p:nvSpPr>
        <p:spPr>
          <a:xfrm>
            <a:off x="411480" y="1097280"/>
            <a:ext cx="4754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신청은 2020년 308건에서 2022년 72건으로, 2년 만에 4분의 1이 됐다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335024"/>
            <a:ext cx="4754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연도별 신청 건수 (알림 문자 기준, 2026년은 10월까지라 제외)</a:t>
            </a:r>
            <a:endParaRPr lang="en-US" sz="8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338328" y="1554480"/>
          <a:ext cx="489204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 txBox="1"/>
          <p:nvPr/>
        </p:nvSpPr>
        <p:spPr>
          <a:xfrm>
            <a:off x="5440680" y="109728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5440680" y="133502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308건(2020) → 72건(2022), 회복 안 됨</a:t>
            </a:r>
            <a:endParaRPr lang="en-US" sz="10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연 약 6,000만~1.2억 원 · 목표 연 150건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5440680" y="1938528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en-US" sz="950" dirty="0"/>
          </a:p>
        </p:txBody>
      </p:sp>
      <p:sp>
        <p:nvSpPr>
          <p:cNvPr id="11" name="Text 8"/>
          <p:cNvSpPr txBox="1"/>
          <p:nvPr/>
        </p:nvSpPr>
        <p:spPr>
          <a:xfrm>
            <a:off x="5440680" y="2157984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줄어든 236건 = 방문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47%</a:t>
            </a:r>
            <a:pPr indent="0" marL="0">
              <a:buNone/>
            </a:pPr>
            <a:r>
              <a:rPr lang="en-US" sz="10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+ 신청률 </a:t>
            </a:r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53%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2487168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방문은 다음·블로그·네이버 검색에서 줄었고 광고는 원인 아님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광고비 26%를 쓰는 포괄 검색어 8개의 클릭률은 구체적 검색어의 8분의 1</a:t>
            </a:r>
            <a:endParaRPr lang="en-US" sz="950" dirty="0"/>
          </a:p>
        </p:txBody>
      </p:sp>
      <p:sp>
        <p:nvSpPr>
          <p:cNvPr id="13" name="Text 10"/>
          <p:cNvSpPr txBox="1"/>
          <p:nvPr/>
        </p:nvSpPr>
        <p:spPr>
          <a:xfrm>
            <a:off x="5440680" y="329184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해결책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440680" y="3511296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랜딩 사이트: 글자로, 첫 화면에 신청 칸, 분쟁 페이지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광고: 포괄 검색어 입찰 낮추기, 제외 키워드</a:t>
            </a:r>
            <a:endParaRPr lang="en-US" sz="9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기록: 신청마다 수임 여부, 광고 신청 추적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문자 전송내역 2014-11 ~ 2026-10-05, 2,895건 → 스팸 254건 제외 2,641건. 236건 분해는 셰이플리(떼는 순서에 따라 36~71%라 평균)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손실 = 연 200건 감소 × 수임 10~20% × 수수료 300만 원. 목표 = 방문 3,812(2024) 그대로 두고 신청률만 4.6%로 되돌리면 177건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유입경로별 방문자수</a:t>
            </a:r>
            <a:endParaRPr lang="en-US" sz="1900" dirty="0"/>
          </a:p>
        </p:txBody>
      </p:sp>
      <p:sp>
        <p:nvSpPr>
          <p:cNvPr id="3" name="Text 1"/>
          <p:cNvSpPr txBox="1"/>
          <p:nvPr/>
        </p:nvSpPr>
        <p:spPr>
          <a:xfrm>
            <a:off x="411480" y="65836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방문은 2020→2022년에 절반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411480" y="896112"/>
            <a:ext cx="2514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봇을 뺀 실제 방문 추정, 명</a:t>
            </a:r>
            <a:endParaRPr lang="en-US" sz="8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338328" y="1097280"/>
          <a:ext cx="260604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11480" y="307238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7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봇 추정 = OS가 Robot·Linux인 방문을 뺌</a:t>
            </a:r>
            <a:endParaRPr lang="en-US" sz="7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7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근거: 2021-10부터 방문이 월 900 → 2,100인데 신청은 12 → 5, 급증분은 전부 경로 없는 "직접"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3063240" y="685800"/>
            <a:ext cx="0" cy="274320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200400" y="658368"/>
            <a:ext cx="5532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끊긴 것은 다음·블로그·네이버 검색이다. 광고는 가장 덜 줄었다</a:t>
            </a:r>
            <a:endParaRPr lang="en-US" sz="1050" dirty="0"/>
          </a:p>
        </p:txBody>
      </p:sp>
      <p:sp>
        <p:nvSpPr>
          <p:cNvPr id="9" name="Text 6"/>
          <p:cNvSpPr txBox="1"/>
          <p:nvPr/>
        </p:nvSpPr>
        <p:spPr>
          <a:xfrm>
            <a:off x="3200400" y="896112"/>
            <a:ext cx="5532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경로별 연간 방문 (서버 기록, "직접" 제외. 출처를 놓치는 경우가 많아 추이로만 봄)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5138928" y="1216152"/>
            <a:ext cx="896112" cy="1737360"/>
          </a:xfrm>
          <a:prstGeom prst="rect">
            <a:avLst/>
          </a:prstGeom>
          <a:solidFill>
            <a:srgbClr val="FFF3C4"/>
          </a:solidFill>
          <a:ln w="12700">
            <a:solidFill>
              <a:srgbClr val="FFF3C4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138928" y="1069848"/>
            <a:ext cx="89611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급감 구간</a:t>
            </a:r>
            <a:endParaRPr lang="en-US" sz="700" dirty="0"/>
          </a:p>
        </p:txBody>
      </p:sp>
      <p:graphicFrame>
        <p:nvGraphicFramePr>
          <p:cNvPr id="12" name="Chart 1" descr=""/>
          <p:cNvGraphicFramePr/>
          <p:nvPr/>
        </p:nvGraphicFramePr>
        <p:xfrm>
          <a:off x="3108960" y="1097280"/>
          <a:ext cx="5669280" cy="21031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3200400" y="3200400"/>
            <a:ext cx="5532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2020 → 2022:  다음 −99% · 네이버 블로그 −93% · 네이버 검색 −54% · 네이버 광고 −40%  (신청 −77%)</a:t>
            </a:r>
            <a:endParaRPr lang="en-US" sz="850" dirty="0"/>
          </a:p>
        </p:txBody>
      </p:sp>
      <p:sp>
        <p:nvSpPr>
          <p:cNvPr id="14" name="Shape 10"/>
          <p:cNvSpPr/>
          <p:nvPr/>
        </p:nvSpPr>
        <p:spPr>
          <a:xfrm>
            <a:off x="411480" y="3493008"/>
            <a:ext cx="45720" cy="914400"/>
          </a:xfrm>
          <a:prstGeom prst="rect">
            <a:avLst/>
          </a:prstGeom>
          <a:solidFill>
            <a:srgbClr val="1BAF7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21208" y="34930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AF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−99%</a:t>
            </a:r>
            <a:endParaRPr lang="en-US" sz="1050" dirty="0"/>
          </a:p>
        </p:txBody>
      </p:sp>
      <p:sp>
        <p:nvSpPr>
          <p:cNvPr id="16" name="Text 12"/>
          <p:cNvSpPr txBox="1"/>
          <p:nvPr/>
        </p:nvSpPr>
        <p:spPr>
          <a:xfrm>
            <a:off x="521208" y="3712464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광고·등록 중단 (확인된 원인). 2020년 수준(644)이면 연 30건</a:t>
            </a:r>
            <a:endParaRPr lang="en-US" sz="800" dirty="0"/>
          </a:p>
        </p:txBody>
      </p:sp>
      <p:sp>
        <p:nvSpPr>
          <p:cNvPr id="17" name="Text 13"/>
          <p:cNvSpPr txBox="1"/>
          <p:nvPr/>
        </p:nvSpPr>
        <p:spPr>
          <a:xfrm>
            <a:off x="521208" y="4187952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다음(카카오) 재개를 비용 대 수익으로 검토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2514600" y="3493008"/>
            <a:ext cx="45720" cy="914400"/>
          </a:xfrm>
          <a:prstGeom prst="rect">
            <a:avLst/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2624328" y="34930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블로그 −93%</a:t>
            </a:r>
            <a:endParaRPr lang="en-US" sz="1050" dirty="0"/>
          </a:p>
        </p:txBody>
      </p:sp>
      <p:sp>
        <p:nvSpPr>
          <p:cNvPr id="20" name="Text 16"/>
          <p:cNvSpPr txBox="1"/>
          <p:nvPr/>
        </p:nvSpPr>
        <p:spPr>
          <a:xfrm>
            <a:off x="2624328" y="3712464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글 수는 그대로(2020·21년 318·322건). 실적 나열 글 + 네이버 노출 방식 변화로 추정</a:t>
            </a:r>
            <a:endParaRPr lang="en-US" sz="800" dirty="0"/>
          </a:p>
        </p:txBody>
      </p:sp>
      <p:sp>
        <p:nvSpPr>
          <p:cNvPr id="21" name="Text 17"/>
          <p:cNvSpPr txBox="1"/>
          <p:nvPr/>
        </p:nvSpPr>
        <p:spPr>
          <a:xfrm>
            <a:off x="2624328" y="4187952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읽을 내용이 있는 글로</a:t>
            </a:r>
            <a:endParaRPr lang="en-US" sz="850" dirty="0"/>
          </a:p>
        </p:txBody>
      </p:sp>
      <p:sp>
        <p:nvSpPr>
          <p:cNvPr id="22" name="Shape 18"/>
          <p:cNvSpPr/>
          <p:nvPr/>
        </p:nvSpPr>
        <p:spPr>
          <a:xfrm>
            <a:off x="4617720" y="3493008"/>
            <a:ext cx="45720" cy="914400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727448" y="34930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검색 −54%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4727448" y="3712464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사이트 글자가 전부 이미지라 검색엔진이 못 읽음 + 네이버 개편(추정)</a:t>
            </a:r>
            <a:endParaRPr lang="en-US" sz="800" dirty="0"/>
          </a:p>
        </p:txBody>
      </p:sp>
      <p:sp>
        <p:nvSpPr>
          <p:cNvPr id="25" name="Text 21"/>
          <p:cNvSpPr txBox="1"/>
          <p:nvPr/>
        </p:nvSpPr>
        <p:spPr>
          <a:xfrm>
            <a:off x="4727448" y="4187952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리뉴얼로 글자를 텍스트로</a:t>
            </a:r>
            <a:endParaRPr lang="en-US" sz="850" dirty="0"/>
          </a:p>
        </p:txBody>
      </p:sp>
      <p:sp>
        <p:nvSpPr>
          <p:cNvPr id="26" name="Shape 22"/>
          <p:cNvSpPr/>
          <p:nvPr/>
        </p:nvSpPr>
        <p:spPr>
          <a:xfrm>
            <a:off x="6720840" y="3493008"/>
            <a:ext cx="45720" cy="914400"/>
          </a:xfrm>
          <a:prstGeom prst="rect">
            <a:avLst/>
          </a:prstGeom>
          <a:solidFill>
            <a:srgbClr val="C08A00"/>
          </a:solidFill>
          <a:ln w="12700">
            <a:solidFill>
              <a:srgbClr val="C08A00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6830568" y="3493008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8A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광고 −40%</a:t>
            </a:r>
            <a:endParaRPr lang="en-US" sz="1050" dirty="0"/>
          </a:p>
        </p:txBody>
      </p:sp>
      <p:sp>
        <p:nvSpPr>
          <p:cNvPr id="28" name="Text 24"/>
          <p:cNvSpPr txBox="1"/>
          <p:nvPr/>
        </p:nvSpPr>
        <p:spPr>
          <a:xfrm>
            <a:off x="6830568" y="3712464"/>
            <a:ext cx="19019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덜 줄어 원인 아님. 지금 실제 방문의 3분의 2, 모바일 44%</a:t>
            </a:r>
            <a:endParaRPr lang="en-US" sz="800" dirty="0"/>
          </a:p>
        </p:txBody>
      </p:sp>
      <p:sp>
        <p:nvSpPr>
          <p:cNvPr id="29" name="Text 25"/>
          <p:cNvSpPr txBox="1"/>
          <p:nvPr/>
        </p:nvSpPr>
        <p:spPr>
          <a:xfrm>
            <a:off x="6830568" y="4187952"/>
            <a:ext cx="19019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랜딩은 광고 방문자 기준, 휴대폰부터</a:t>
            </a:r>
            <a:endParaRPr lang="en-US" sz="850" dirty="0"/>
          </a:p>
        </p:txBody>
      </p:sp>
      <p:sp>
        <p:nvSpPr>
          <p:cNvPr id="30" name="Shape 26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관리자 페이지 접속자통계 — 연도별·OS별 방문자(2015 ~ 2025, 같은 IP는 하루 1회), 유입 도메인별 방문(2016 ~ 2026-10-06). 2016·17·19년은 OS 자료 없음, 2025년 이후 신뢰 낮음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경로 비교는 "직접"(봇 대부분) 제외. 서버 광고 유입 203 vs 광고 보고서 클릭 388(같은 90일)이라 경로는 추이로만 봄. 감소율은 2020 → 2022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방문자수 — 네이버 광고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114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방문의 3분의 2가 광고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세션 약 180 중 광고 주소로 온 120 (GA4)</a:t>
            </a:r>
            <a:endParaRPr lang="en-US" sz="750" dirty="0"/>
          </a:p>
        </p:txBody>
      </p:sp>
      <p:sp>
        <p:nvSpPr>
          <p:cNvPr id="6" name="Shape 4"/>
          <p:cNvSpPr/>
          <p:nvPr/>
        </p:nvSpPr>
        <p:spPr>
          <a:xfrm>
            <a:off x="32308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223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모바일 44%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33223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페이지 142명 중 62. 옛 사이트는 PC 폭 고정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6050280" y="676656"/>
            <a:ext cx="2682240" cy="457200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41720" y="694944"/>
            <a:ext cx="2499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90일 노출 195,455 · 클릭 388 · 733,728원</a:t>
            </a:r>
            <a:endParaRPr lang="en-US" sz="1000" dirty="0"/>
          </a:p>
        </p:txBody>
      </p:sp>
      <p:sp>
        <p:nvSpPr>
          <p:cNvPr id="11" name="Text 9"/>
          <p:cNvSpPr txBox="1"/>
          <p:nvPr/>
        </p:nvSpPr>
        <p:spPr>
          <a:xfrm>
            <a:off x="6141720" y="914400"/>
            <a:ext cx="2499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클릭률 0.2% · 클릭당 1,891원 · 전환 측정 없음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11480" y="1243584"/>
            <a:ext cx="4937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특허·변리사 같은 일반 검색어는 1만 번 보여야 12번 눌린다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411480" y="1481328"/>
            <a:ext cx="49377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클릭률 · 괄호는 90일 클릭 수 · 클릭당 비용은 유형과 상관없이 2,000원 안팎(지역명만 706원)</a:t>
            </a:r>
            <a:endParaRPr lang="en-US" sz="8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320040" y="1700784"/>
          <a:ext cx="475488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5" name="Text 12"/>
          <p:cNvSpPr txBox="1"/>
          <p:nvPr/>
        </p:nvSpPr>
        <p:spPr>
          <a:xfrm>
            <a:off x="5440680" y="1243584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 8개 vs 구체적 검색어 (모든 광고그룹)</a:t>
            </a:r>
            <a:endParaRPr lang="en-US" sz="950" dirty="0"/>
          </a:p>
        </p:txBody>
      </p:sp>
      <p:sp>
        <p:nvSpPr>
          <p:cNvPr id="16" name="Text 13"/>
          <p:cNvSpPr txBox="1"/>
          <p:nvPr/>
        </p:nvSpPr>
        <p:spPr>
          <a:xfrm>
            <a:off x="5440680" y="146304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0.06%</a:t>
            </a:r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vs  </a:t>
            </a:r>
            <a:pPr indent="0" marL="0">
              <a:buNone/>
            </a:pPr>
            <a:r>
              <a:rPr lang="en-US" sz="22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0.50%</a:t>
            </a:r>
            <a:endParaRPr lang="en-US" sz="2200" dirty="0"/>
          </a:p>
        </p:txBody>
      </p:sp>
      <p:sp>
        <p:nvSpPr>
          <p:cNvPr id="17" name="Text 14"/>
          <p:cNvSpPr txBox="1"/>
          <p:nvPr/>
        </p:nvSpPr>
        <p:spPr>
          <a:xfrm>
            <a:off x="5440680" y="1865376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포괄 검색어가 노출 68%, 광고비 26%를 쓰고 클릭은 20%. 클릭당 비용은 같음(2,547원 대 2,434원)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피셔 정확검정, 우연일 확률 0.1% 미만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검색은 직접 등록한 키워드의 절반만 눌림(0.32% 대 0.61%)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작년 정리로 광고비 −45%에 신청은 18 → 15(−17%). 광고비대로 줄지 않았다는 경향(포아송 8%)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440680" y="3108960"/>
            <a:ext cx="3291840" cy="129844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5550408" y="3163824"/>
            <a:ext cx="307238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뺌</a:t>
            </a:r>
            <a:endParaRPr lang="en-US" sz="8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특허·특허법인·변리사·특허사무소 입찰 낮추거나 제외("특허출원"은 남김)</a:t>
            </a:r>
            <a:endParaRPr lang="en-US" sz="8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확장 검색은 성적 나쁜 그룹부터 끔, "변리사파견" 등 무관 노출 정리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늘림</a:t>
            </a:r>
            <a:endParaRPr lang="en-US" sz="8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지방 키워드(클릭률 1.9%, 클릭당 706원, 변리사 선호)</a:t>
            </a:r>
            <a:endParaRPr lang="en-US" sz="85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심사관출신 그룹(클릭률 1위, 비용 2.5%)</a:t>
            </a:r>
            <a:endParaRPr lang="en-US" sz="850" dirty="0"/>
          </a:p>
        </p:txBody>
      </p:sp>
      <p:sp>
        <p:nvSpPr>
          <p:cNvPr id="20" name="Shape 17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네이버 검색광고 검색어 보고서 2026-07-06 ~ 10-03(90일, 27,277행), 비교용 2025-07-02 ~ 09-29. GA4 2026-09-02 ~ 10-01(작업자 접속 69세션 제외)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9,383개를 글자 규칙으로 유형 분류(클릭 난 231개는 검산). 한계: 전환 측정이 없어 클릭까지만 봄. 확장 검색의 실제 검색어는 보고서에 안 나옴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· 수임 전환율 · 수임당 매출</a:t>
            </a:r>
            <a:endParaRPr lang="en-US" sz="1900" dirty="0"/>
          </a:p>
        </p:txBody>
      </p:sp>
      <p:sp>
        <p:nvSpPr>
          <p:cNvPr id="3" name="Shape 1"/>
          <p:cNvSpPr/>
          <p:nvPr/>
        </p:nvSpPr>
        <p:spPr>
          <a:xfrm>
            <a:off x="40690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658368"/>
            <a:ext cx="0" cy="370332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11480" y="658368"/>
            <a:ext cx="3566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(2장)</a:t>
            </a:r>
            <a:endParaRPr lang="en-US" sz="95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877824"/>
            <a:ext cx="3566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4.6% → 2.1%</a:t>
            </a:r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2020 → 2022, 절반. 방문도 절반 → 신청 4분의 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411480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48056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195,455</a:t>
            </a:r>
            <a:endParaRPr lang="en-US" sz="700" dirty="0"/>
          </a:p>
        </p:txBody>
      </p:sp>
      <p:sp>
        <p:nvSpPr>
          <p:cNvPr id="9" name="Text 7"/>
          <p:cNvSpPr txBox="1"/>
          <p:nvPr/>
        </p:nvSpPr>
        <p:spPr>
          <a:xfrm>
            <a:off x="1124712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0.2%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1362456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399032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클릭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388</a:t>
            </a:r>
            <a:endParaRPr lang="en-US" sz="700" dirty="0"/>
          </a:p>
        </p:txBody>
      </p:sp>
      <p:sp>
        <p:nvSpPr>
          <p:cNvPr id="12" name="Text 10"/>
          <p:cNvSpPr txBox="1"/>
          <p:nvPr/>
        </p:nvSpPr>
        <p:spPr>
          <a:xfrm>
            <a:off x="2075688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3.9%</a:t>
            </a:r>
            <a:endParaRPr lang="en-US" sz="700" dirty="0"/>
          </a:p>
        </p:txBody>
      </p:sp>
      <p:sp>
        <p:nvSpPr>
          <p:cNvPr id="13" name="Shape 11"/>
          <p:cNvSpPr/>
          <p:nvPr/>
        </p:nvSpPr>
        <p:spPr>
          <a:xfrm>
            <a:off x="2313432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350008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폼 신청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700" dirty="0"/>
          </a:p>
        </p:txBody>
      </p:sp>
      <p:sp>
        <p:nvSpPr>
          <p:cNvPr id="15" name="Text 13"/>
          <p:cNvSpPr txBox="1"/>
          <p:nvPr/>
        </p:nvSpPr>
        <p:spPr>
          <a:xfrm>
            <a:off x="3026664" y="1371600"/>
            <a:ext cx="2377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10~20%</a:t>
            </a:r>
            <a:endParaRPr lang="en-US" sz="700" dirty="0"/>
          </a:p>
        </p:txBody>
      </p:sp>
      <p:sp>
        <p:nvSpPr>
          <p:cNvPr id="16" name="Shape 14"/>
          <p:cNvSpPr/>
          <p:nvPr/>
        </p:nvSpPr>
        <p:spPr>
          <a:xfrm>
            <a:off x="3264408" y="1261872"/>
            <a:ext cx="713232" cy="402336"/>
          </a:xfrm>
          <a:prstGeom prst="roundRect">
            <a:avLst>
              <a:gd name="adj" fmla="val 11364"/>
            </a:avLst>
          </a:prstGeom>
          <a:solidFill>
            <a:srgbClr val="7AA9E6"/>
          </a:solidFill>
          <a:ln w="12700">
            <a:solidFill>
              <a:srgbClr val="7AA9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300984" y="128016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추정</a:t>
            </a:r>
            <a:endParaRPr lang="en-US" sz="7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1.5~3</a:t>
            </a:r>
            <a:endParaRPr lang="en-US" sz="700" dirty="0"/>
          </a:p>
        </p:txBody>
      </p:sp>
      <p:sp>
        <p:nvSpPr>
          <p:cNvPr id="18" name="Text 16"/>
          <p:cNvSpPr txBox="1"/>
          <p:nvPr/>
        </p:nvSpPr>
        <p:spPr>
          <a:xfrm>
            <a:off x="411480" y="16916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 100번 눌리면 4명 신청, 수임은 1건 미만(90일). 수임 1건당 광고비 24만~98만 원 = 수수료의 8~33% → 광고는 남음</a:t>
            </a:r>
            <a:endParaRPr lang="en-US" sz="750" dirty="0"/>
          </a:p>
        </p:txBody>
      </p:sp>
      <p:sp>
        <p:nvSpPr>
          <p:cNvPr id="19" name="Text 17"/>
          <p:cNvSpPr txBox="1"/>
          <p:nvPr/>
        </p:nvSpPr>
        <p:spPr>
          <a:xfrm>
            <a:off x="411480" y="202996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광고로 온 사람 4명 중 1명은 5초 안에 나간다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11480" y="2267712"/>
            <a:ext cx="3566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검색어 유형별 체류(%) · 괄호는 사람 수, 수가 작아 경향</a:t>
            </a:r>
            <a:endParaRPr lang="en-US" sz="800" dirty="0"/>
          </a:p>
        </p:txBody>
      </p:sp>
      <p:graphicFrame>
        <p:nvGraphicFramePr>
          <p:cNvPr id="21" name="Chart 0" descr=""/>
          <p:cNvGraphicFramePr/>
          <p:nvPr/>
        </p:nvGraphicFramePr>
        <p:xfrm>
          <a:off x="338328" y="2441448"/>
          <a:ext cx="3675888" cy="1371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2" name="Text 19"/>
          <p:cNvSpPr txBox="1"/>
          <p:nvPr/>
        </p:nvSpPr>
        <p:spPr>
          <a:xfrm>
            <a:off x="411480" y="385876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18초 안에 "누가·무엇을·무료로", 읽기 끝에 간편 신청, 휴대폰 대응, 비용·절차 블록</a:t>
            </a:r>
            <a:endParaRPr lang="en-US" sz="850" dirty="0"/>
          </a:p>
        </p:txBody>
      </p:sp>
      <p:sp>
        <p:nvSpPr>
          <p:cNvPr id="23" name="Text 20"/>
          <p:cNvSpPr txBox="1"/>
          <p:nvPr/>
        </p:nvSpPr>
        <p:spPr>
          <a:xfrm>
            <a:off x="4160520" y="658368"/>
            <a:ext cx="2331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 (3장)</a:t>
            </a:r>
            <a:endParaRPr lang="en-US" sz="950" dirty="0"/>
          </a:p>
        </p:txBody>
      </p:sp>
      <p:sp>
        <p:nvSpPr>
          <p:cNvPr id="24" name="Text 21"/>
          <p:cNvSpPr txBox="1"/>
          <p:nvPr/>
        </p:nvSpPr>
        <p:spPr>
          <a:xfrm>
            <a:off x="4160520" y="877824"/>
            <a:ext cx="2331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없음</a:t>
            </a:r>
            <a:pPr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신청 뒤는 전화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4160520" y="1280160"/>
            <a:ext cx="2331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 기억으로 수임 10건 중 1~2건. 직접 전화 문의 월 5건 이내, 어디서 번호를 봤는지 모름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81%가 휴대폰 번호만 남기는 간편 신청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주말 신청은 평일의 절반(z, 우연일 확률 0.1% 미만). 0~7시 신청 13%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 문의가 폼만큼 있는데 안 잡힘. 휴대폰(44%)은 번호 클릭으로 셀 수 있고 PC는 못 셈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4160520" y="3493008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휴대폰 번호 클릭 기록, PC는 전용 착신 번호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수임 여부는 분기 1회 기록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간편 신청 유지, 0~7시 신청에 "오전 8시 이후 연락"</a:t>
            </a:r>
            <a:endParaRPr lang="en-US" sz="850" dirty="0"/>
          </a:p>
        </p:txBody>
      </p:sp>
      <p:sp>
        <p:nvSpPr>
          <p:cNvPr id="27" name="Text 24"/>
          <p:cNvSpPr txBox="1"/>
          <p:nvPr/>
        </p:nvSpPr>
        <p:spPr>
          <a:xfrm>
            <a:off x="6675120" y="658368"/>
            <a:ext cx="2057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수임당 매출 (4장)</a:t>
            </a:r>
            <a:endParaRPr lang="en-US" sz="950" dirty="0"/>
          </a:p>
        </p:txBody>
      </p:sp>
      <p:sp>
        <p:nvSpPr>
          <p:cNvPr id="28" name="Text 25"/>
          <p:cNvSpPr txBox="1"/>
          <p:nvPr/>
        </p:nvSpPr>
        <p:spPr>
          <a:xfrm>
            <a:off x="6675120" y="932688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출원  </a:t>
            </a:r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300만 원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94% (2,021건)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 </a:t>
            </a:r>
            <a:pPr indent="0" marL="0">
              <a:buNone/>
            </a:pPr>
            <a:r>
              <a:rPr lang="en-US" sz="1500" b="1" dirty="0">
                <a:solidFill>
                  <a:srgbClr val="EB683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2,000만 원</a:t>
            </a:r>
            <a:endParaRPr lang="en-US" sz="950" dirty="0"/>
          </a:p>
          <a:p>
            <a:pPr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신청의 6% (120건)</a:t>
            </a:r>
            <a:endParaRPr lang="en-US" sz="950" dirty="0"/>
          </a:p>
        </p:txBody>
      </p:sp>
      <p:sp>
        <p:nvSpPr>
          <p:cNvPr id="29" name="Text 26"/>
          <p:cNvSpPr txBox="1"/>
          <p:nvPr/>
        </p:nvSpPr>
        <p:spPr>
          <a:xfrm>
            <a:off x="6675120" y="2075688"/>
            <a:ext cx="2057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수수료 7배라 연 매출은 출원과 비슷하거나 더 큼 (2,300만~4,600만 vs 2,700만~5,300만, 전환율 같다고 가정)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신청은 전체 감소 뒤에도 안 줄음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분쟁 검색자가 가장 짧게 머묾 → 페이지 문제 가능성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6675120" y="3493008"/>
            <a:ext cx="2057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페이지를 리뉴얼 우선순위에, 폼보다 전화</a:t>
            </a:r>
            <a:endParaRPr lang="en-US" sz="8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85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분쟁 광고는 줄이지 않음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411480" y="4480560"/>
            <a:ext cx="8321040" cy="0"/>
          </a:xfrm>
          <a:prstGeom prst="line">
            <a:avLst/>
          </a:prstGeom>
          <a:noFill/>
          <a:ln w="12700">
            <a:solidFill>
              <a:srgbClr val="DFE3E2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411480" y="4535424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출처: 알림 문자·게시판(2,141건) ÷ 서버 실제 방문(슬라이드 2), 네이버 광고 90일 + 같은 기간 게시판 15건, GA4 광고 유입 120세션, Clarity 녹화 5건, 변리사 답(수임률·수수료·문의)</a:t>
            </a:r>
            <a:endParaRPr lang="en-US" sz="800" dirty="0"/>
          </a:p>
          <a:p>
            <a:pPr indent="0" marL="0">
              <a:spcAft>
                <a:spcPts val="100"/>
              </a:spcAft>
              <a:buNone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수임률·수수료는 기록이 아닌 기억에 의한 대략의 값. 유형별 체류 차이는 우연일 확률 6~22%라 경향. 분쟁 매출은 전환율을 출원과 같다고 가정</a:t>
            </a:r>
            <a:endParaRPr lang="en-US" sz="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11480" y="182880"/>
            <a:ext cx="8321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해야 할 것과 한계</a:t>
            </a:r>
            <a:endParaRPr lang="en-US" sz="1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76656"/>
          <a:ext cx="832104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685800"/>
                <a:gridCol w="4846320"/>
                <a:gridCol w="192024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근거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누가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무엇을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2514E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움직이는 지표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1-4·2-2·4-1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나(개발)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새 사이트: 글자를 텍스트로, 첫 화면 신청 칸, 분쟁 페이지, 휴대폰. 변리사 확인 뒤 공개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방문당 신청률, 네이버 검색 방문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1-6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포괄 검색어 입찰 낮추기·제외, 확장 검색 정리, 지방·심사관출신 늘리기 (4주 단위)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광고 클릭률, 광고비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3-1·5-1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신청마다 수임 여부 기록(분기 1회), 네이버 전환 추적(신청함, 승인 뒤 설치)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수임 전환율, 검색어별 신청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1-2·1-3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변리사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광고 재개 결정, 블로그는 읽을 내용이 있는 글로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0B0B0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다음·블로그 방문</a:t>
                      </a:r>
                      <a:endParaRPr lang="en-US" sz="9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63500" marR="63500" marT="25400" marB="254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DFE3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11480" y="2048256"/>
            <a:ext cx="8321040" cy="384048"/>
          </a:xfrm>
          <a:prstGeom prst="rect">
            <a:avLst/>
          </a:prstGeom>
          <a:solidFill>
            <a:srgbClr val="EEF4FB"/>
          </a:solidFill>
          <a:ln w="12700">
            <a:solidFill>
              <a:srgbClr val="EEF4FB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2048256"/>
            <a:ext cx="8046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목표  </a:t>
            </a:r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방문당 신청률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2.8% → 4.6%</a:t>
            </a:r>
            <a:pPr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이면 지금 방문(3,812)으로 연 177건  →  목표 </a:t>
            </a:r>
            <a:pPr indent="0" marL="0">
              <a:buNone/>
            </a:pPr>
            <a:r>
              <a:rPr lang="en-US" sz="1400" b="1" dirty="0">
                <a:solidFill>
                  <a:srgbClr val="2A78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연 150건</a:t>
            </a:r>
            <a:endParaRPr lang="en-US" sz="1000" dirty="0"/>
          </a:p>
        </p:txBody>
      </p:sp>
      <p:sp>
        <p:nvSpPr>
          <p:cNvPr id="6" name="Text 3"/>
          <p:cNvSpPr txBox="1"/>
          <p:nvPr/>
        </p:nvSpPr>
        <p:spPr>
          <a:xfrm>
            <a:off x="411480" y="254203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설치한 측정 (5-1, 2026-10-06 옛 사이트에)</a:t>
            </a:r>
            <a:endParaRPr lang="en-US" sz="950" dirty="0"/>
          </a:p>
        </p:txBody>
      </p:sp>
      <p:sp>
        <p:nvSpPr>
          <p:cNvPr id="7" name="Text 4"/>
          <p:cNvSpPr txBox="1"/>
          <p:nvPr/>
        </p:nvSpPr>
        <p:spPr>
          <a:xfrm>
            <a:off x="411480" y="2761488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GA4: 광고 유입을 광고/검색어/광고그룹으로, 입구 구분(출원/분쟁/간편), 폼 시작·제출·완료 이벤트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신청 글에 유입 경로·검색어 저장(DB 미확인), 첫 화면 검색어를 신청 페이지로 넘김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Clarity 녹화. 옛 UA 코드 제거, 작업자 IP 차단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네이버 전환 추적: 서비스 신청함, 승인 뒤 설치</a:t>
            </a:r>
            <a:endParaRPr lang="en-US" sz="800" dirty="0"/>
          </a:p>
        </p:txBody>
      </p:sp>
      <p:sp>
        <p:nvSpPr>
          <p:cNvPr id="8" name="Text 5"/>
          <p:cNvSpPr txBox="1"/>
          <p:nvPr/>
        </p:nvSpPr>
        <p:spPr>
          <a:xfrm>
            <a:off x="4709160" y="2542032"/>
            <a:ext cx="40233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 (5-2)</a:t>
            </a:r>
            <a:endParaRPr lang="en-US" sz="950" dirty="0"/>
          </a:p>
        </p:txBody>
      </p:sp>
      <p:sp>
        <p:nvSpPr>
          <p:cNvPr id="9" name="Text 6"/>
          <p:cNvSpPr txBox="1"/>
          <p:nvPr/>
        </p:nvSpPr>
        <p:spPr>
          <a:xfrm>
            <a:off x="4709160" y="2761488"/>
            <a:ext cx="4023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표본: 광고 90일 신청 15건, 광고 유입 120건 · 기간: 광고 90일, GA4 1개월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 통계: 봇 제거는 추정, 경로는 추이, 2025년 이후 신뢰 낮음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2021년 원인: 다음 중단만 확인, 블로그·네이버 검색은 추정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수임 전환율 데이터 없음 · 변리사 답은 기억에 의한 값 · 구글 미검토</a:t>
            </a:r>
            <a:endParaRPr lang="en-US" sz="800" dirty="0"/>
          </a:p>
          <a:p>
            <a:pPr marL="127000" indent="-1270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검정: 포괄 vs 구체적 클릭률·지역명·주말 신청은 우연일 확률 0.1% 미만(피셔·z). 신청 18→15는 73%(이항), 유형별 체류 6~22%(피셔)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11480" y="4023360"/>
            <a:ext cx="8321040" cy="274320"/>
          </a:xfrm>
          <a:prstGeom prst="rect">
            <a:avLst/>
          </a:prstGeom>
          <a:solidFill>
            <a:srgbClr val="FFF3C4"/>
          </a:solidFill>
          <a:ln w="12700">
            <a:solidFill>
              <a:srgbClr val="E0C060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521208" y="4023360"/>
            <a:ext cx="81015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 확인  </a:t>
            </a:r>
            <a:pPr indent="0" marL="0">
              <a:buNone/>
            </a:pPr>
            <a:r>
              <a:rPr lang="en-US" sz="950" dirty="0">
                <a:solidFill>
                  <a:srgbClr val="0B0B0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변리사가 리포트를 읽고 action item을 반영하겠다고 답함</a:t>
            </a:r>
            <a:endParaRPr lang="en-US" sz="950" dirty="0"/>
          </a:p>
        </p:txBody>
      </p:sp>
      <p:sp>
        <p:nvSpPr>
          <p:cNvPr id="12" name="Text 9"/>
          <p:cNvSpPr txBox="1"/>
          <p:nvPr/>
        </p:nvSpPr>
        <p:spPr>
          <a:xfrm>
            <a:off x="411480" y="4535424"/>
            <a:ext cx="8321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사용  </a:t>
            </a:r>
            <a:pPr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코드·차트·초안은 Claude Code, 문제 정의·구조·검증은 사람. 자세한 내용은 GitHub README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800">
                <a:solidFill>
                  <a:srgbClr val="52514E"/>
                </a:solidFill>
                <a:latin typeface="Malgun Gothic"/>
                <a:ea typeface="Malgun Gothic"/>
                <a:cs typeface="Malgun Gothic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특허사무소 무료진단 신청 회복 — 랜딩 사이트·광고 개선</dc:title>
  <dc:subject>PptxGenJS Presentation</dc:subject>
  <dc:creator>PptxGenJS</dc:creator>
  <cp:lastModifiedBy>PptxGenJS</cp:lastModifiedBy>
  <cp:revision>1</cp:revision>
  <dcterms:created xsi:type="dcterms:W3CDTF">2026-10-15T08:35:51Z</dcterms:created>
  <dcterms:modified xsi:type="dcterms:W3CDTF">2026-10-15T08:35:51Z</dcterms:modified>
</cp:coreProperties>
</file>