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506</c:v>
                </c:pt>
                <c:pt idx="1">
                  <c:v>284</c:v>
                </c:pt>
                <c:pt idx="2">
                  <c:v>308</c:v>
                </c:pt>
                <c:pt idx="3">
                  <c:v>301</c:v>
                </c:pt>
                <c:pt idx="4">
                  <c:v>223</c:v>
                </c:pt>
                <c:pt idx="5">
                  <c:v>308</c:v>
                </c:pt>
                <c:pt idx="6">
                  <c:v>163</c:v>
                </c:pt>
                <c:pt idx="7">
                  <c:v>72</c:v>
                </c:pt>
                <c:pt idx="8">
                  <c:v>92</c:v>
                </c:pt>
                <c:pt idx="9">
                  <c:v>105</c:v>
                </c:pt>
                <c:pt idx="10">
                  <c:v>87</c:v>
                </c:pt>
                <c:pt idx="11">
                  <c:v>81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341</c:v>
                </c:pt>
                <c:pt idx="1">
                  <c:v>296</c:v>
                </c:pt>
                <c:pt idx="2">
                  <c:v>374</c:v>
                </c:pt>
                <c:pt idx="3">
                  <c:v>326</c:v>
                </c:pt>
                <c:pt idx="4">
                  <c:v>365</c:v>
                </c:pt>
                <c:pt idx="5">
                  <c:v>472</c:v>
                </c:pt>
                <c:pt idx="6">
                  <c:v>368</c:v>
                </c:pt>
                <c:pt idx="7">
                  <c:v>283</c:v>
                </c:pt>
                <c:pt idx="8">
                  <c:v>306</c:v>
                </c:pt>
                <c:pt idx="9">
                  <c:v>334</c:v>
                </c:pt>
                <c:pt idx="10">
                  <c:v>233</c:v>
                </c:pt>
                <c:pt idx="11">
                  <c:v>203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3BA3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4142</c:v>
                </c:pt>
                <c:pt idx="1">
                  <c:v>4902</c:v>
                </c:pt>
                <c:pt idx="2">
                  <c:v>3454</c:v>
                </c:pt>
                <c:pt idx="3">
                  <c:v>2980</c:v>
                </c:pt>
                <c:pt idx="4">
                  <c:v>1714</c:v>
                </c:pt>
                <c:pt idx="5">
                  <c:v>2220</c:v>
                </c:pt>
                <c:pt idx="6">
                  <c:v>1193</c:v>
                </c:pt>
                <c:pt idx="7">
                  <c:v>1028</c:v>
                </c:pt>
                <c:pt idx="8">
                  <c:v>2463</c:v>
                </c:pt>
                <c:pt idx="9">
                  <c:v>1278</c:v>
                </c:pt>
                <c:pt idx="10">
                  <c:v>1399</c:v>
                </c:pt>
                <c:pt idx="11">
                  <c:v>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0A03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401</c:v>
                </c:pt>
                <c:pt idx="1">
                  <c:v>2555</c:v>
                </c:pt>
                <c:pt idx="2">
                  <c:v>1587</c:v>
                </c:pt>
                <c:pt idx="3">
                  <c:v>764</c:v>
                </c:pt>
                <c:pt idx="4">
                  <c:v>1102</c:v>
                </c:pt>
                <c:pt idx="5">
                  <c:v>600</c:v>
                </c:pt>
                <c:pt idx="6">
                  <c:v>118</c:v>
                </c:pt>
                <c:pt idx="7">
                  <c:v>43</c:v>
                </c:pt>
                <c:pt idx="8">
                  <c:v>57</c:v>
                </c:pt>
                <c:pt idx="9">
                  <c:v>42</c:v>
                </c:pt>
                <c:pt idx="10">
                  <c:v>17</c:v>
                </c:pt>
                <c:pt idx="11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1624</c:v>
                </c:pt>
                <c:pt idx="1">
                  <c:v>1267</c:v>
                </c:pt>
                <c:pt idx="2">
                  <c:v>734</c:v>
                </c:pt>
                <c:pt idx="3">
                  <c:v>955</c:v>
                </c:pt>
                <c:pt idx="4">
                  <c:v>1084</c:v>
                </c:pt>
                <c:pt idx="5">
                  <c:v>644</c:v>
                </c:pt>
                <c:pt idx="6">
                  <c:v>273</c:v>
                </c:pt>
                <c:pt idx="7">
                  <c:v>7</c:v>
                </c:pt>
                <c:pt idx="8">
                  <c:v>2</c:v>
                </c:pt>
                <c:pt idx="9">
                  <c:v>59</c:v>
                </c:pt>
                <c:pt idx="10">
                  <c:v>184</c:v>
                </c:pt>
                <c:pt idx="11">
                  <c:v>131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구글</c:v>
                </c:pt>
              </c:strCache>
            </c:strRef>
          </c:tx>
          <c:spPr>
            <a:solidFill>
              <a:srgbClr val="8B6B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1279</c:v>
                </c:pt>
                <c:pt idx="1">
                  <c:v>226</c:v>
                </c:pt>
                <c:pt idx="2">
                  <c:v>120</c:v>
                </c:pt>
                <c:pt idx="3">
                  <c:v>9</c:v>
                </c:pt>
                <c:pt idx="4">
                  <c:v>18</c:v>
                </c:pt>
                <c:pt idx="5">
                  <c:v>42</c:v>
                </c:pt>
                <c:pt idx="6">
                  <c:v>32</c:v>
                </c:pt>
                <c:pt idx="7">
                  <c:v>206</c:v>
                </c:pt>
                <c:pt idx="8">
                  <c:v>63</c:v>
                </c:pt>
                <c:pt idx="9">
                  <c:v>24</c:v>
                </c:pt>
                <c:pt idx="10">
                  <c:v>59</c:v>
                </c:pt>
                <c:pt idx="11">
                  <c:v>45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직접(봇 뺌)</c:v>
                </c:pt>
              </c:strCache>
            </c:strRef>
          </c:tx>
          <c:spPr>
            <a:solidFill>
              <a:srgbClr val="A9B4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3466</c:v>
                </c:pt>
                <c:pt idx="1">
                  <c:v>0</c:v>
                </c:pt>
                <c:pt idx="2">
                  <c:v>0</c:v>
                </c:pt>
                <c:pt idx="3">
                  <c:v>4311</c:v>
                </c:pt>
                <c:pt idx="4">
                  <c:v>0</c:v>
                </c:pt>
                <c:pt idx="5">
                  <c:v>2670</c:v>
                </c:pt>
                <c:pt idx="6">
                  <c:v>2792</c:v>
                </c:pt>
                <c:pt idx="7">
                  <c:v>1830</c:v>
                </c:pt>
                <c:pt idx="8">
                  <c:v>1019</c:v>
                </c:pt>
                <c:pt idx="9">
                  <c:v>2075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직접(정확한 값 모름*)</c:v>
                </c:pt>
              </c:strCache>
            </c:strRef>
          </c:tx>
          <c:spPr>
            <a:solidFill>
              <a:srgbClr val="E3E8E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2015</c:v>
                  </c:pt>
                  <c:pt idx="1">
                    <c:v>2016*</c:v>
                  </c:pt>
                  <c:pt idx="2">
                    <c:v>2017*</c:v>
                  </c:pt>
                  <c:pt idx="3">
                    <c:v>2018</c:v>
                  </c:pt>
                  <c:pt idx="4">
                    <c:v>2019*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2025*</c:v>
                  </c:pt>
                  <c:pt idx="11">
                    <c:v>2026*</c:v>
                  </c:pt>
                </c:lvl>
              </c:multiLvlStrCache>
            </c:multiLvlStrRef>
          </c:cat>
          <c:val>
            <c:numRef>
              <c:f>Sheet1!$H$2:$H$13</c:f>
              <c:numCache>
                <c:formatCode>General</c:formatCode>
                <c:ptCount val="12"/>
                <c:pt idx="0">
                  <c:v>0</c:v>
                </c:pt>
                <c:pt idx="1">
                  <c:v>7407</c:v>
                </c:pt>
                <c:pt idx="2">
                  <c:v>7637</c:v>
                </c:pt>
                <c:pt idx="3">
                  <c:v>0</c:v>
                </c:pt>
                <c:pt idx="4">
                  <c:v>7819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6995</c:v>
                </c:pt>
                <c:pt idx="11">
                  <c:v>7640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1C2A3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포괄 검색어 8개</c:v>
                </c:pt>
              </c:strCache>
            </c:strRef>
          </c:tx>
          <c:spPr>
            <a:solidFill>
              <a:srgbClr val="C8372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68.3</c:v>
                </c:pt>
                <c:pt idx="1">
                  <c:v>20.2</c:v>
                </c:pt>
                <c:pt idx="2">
                  <c:v>26.3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구체적 검색어 9,375개</c:v>
                </c:pt>
              </c:strCache>
            </c:strRef>
          </c:tx>
          <c:spPr>
            <a:solidFill>
              <a:srgbClr val="C9D1D3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C2A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노출</c:v>
                  </c:pt>
                  <c:pt idx="1">
                    <c:v>클릭</c:v>
                  </c:pt>
                  <c:pt idx="2">
                    <c:v>광고비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31.7</c:v>
                </c:pt>
                <c:pt idx="1">
                  <c:v>79.8</c:v>
                </c:pt>
                <c:pt idx="2">
                  <c:v>73.7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C2A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방문당 신청률(%)</c:v>
                </c:pt>
              </c:strCache>
            </c:strRef>
          </c:tx>
          <c:spPr>
            <a:solidFill>
              <a:srgbClr val="C8372D"/>
            </a:solidFill>
            <a:ln w="25400" cap="flat">
              <a:solidFill>
                <a:srgbClr val="C8372D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372D"/>
              </a:solidFill>
              <a:ln w="9525" cap="flat">
                <a:solidFill>
                  <a:srgbClr val="C837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  <c:pt idx="7">
                    <c:v>2025*</c:v>
                  </c:pt>
                  <c:pt idx="8">
                    <c:v>2026*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4.5</c:v>
                </c:pt>
                <c:pt idx="1">
                  <c:v>3.2</c:v>
                </c:pt>
                <c:pt idx="2">
                  <c:v>4.6</c:v>
                </c:pt>
                <c:pt idx="3">
                  <c:v>3.4</c:v>
                </c:pt>
                <c:pt idx="4">
                  <c:v>2.1</c:v>
                </c:pt>
                <c:pt idx="5">
                  <c:v>2.4</c:v>
                </c:pt>
                <c:pt idx="6">
                  <c:v>2.8</c:v>
                </c:pt>
                <c:pt idx="7">
                  <c:v>1</c:v>
                </c:pt>
                <c:pt idx="8">
                  <c:v>0.9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700" u="none">
                  <a:solidFill>
                    <a:srgbClr val="00000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 형태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번호만</c:v>
                  </c:pt>
                  <c:pt idx="1">
                    <c:v>출원 상세</c:v>
                  </c:pt>
                  <c:pt idx="2">
                    <c:v>분쟁 상세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1730</c:v>
                </c:pt>
                <c:pt idx="1">
                  <c:v>386</c:v>
                </c:pt>
                <c:pt idx="2">
                  <c:v>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D6B7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무료진단 랜딩페이지 리뉴얼 — 데이터 분석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65760" y="65836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206240" cy="30632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5488" y="113385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138988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신청이 308건(2020) → 72건(2022)으로 줄고 회복 안 됨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75488" y="1847088"/>
            <a:ext cx="3977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신청(건)</a:t>
            </a:r>
            <a:endParaRPr lang="en-US" sz="8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2011680"/>
          <a:ext cx="411480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75488" y="36118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</a:t>
            </a:r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6,000만~1.2억 원</a:t>
            </a:r>
            <a:pPr indent="0" marL="0">
              <a:buNone/>
            </a:pPr>
            <a:r>
              <a:rPr lang="en-US" sz="12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</a:t>
            </a:r>
            <a:pPr indent="0" marL="0">
              <a:buNone/>
            </a:pPr>
            <a:r>
              <a:rPr lang="en-US" sz="12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</a:t>
            </a:r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663440" y="1078992"/>
            <a:ext cx="4114800" cy="16002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773168" y="1133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773168" y="13716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236건 감소 = 방문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6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pPr indent="0" marL="0">
              <a:buNone/>
            </a:pPr>
            <a:r>
              <a:rPr lang="en-US" sz="85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(셰이플리 분해)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773168" y="1755648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방문: 다음·블로그·검색이 줄고, 광고는 원인 아님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8개가 광고비 26%, 클릭률은 1/8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신청률 4.6% → 2.1%, 수임 기록 없음, 분쟁 건당 7배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63440" y="2770632"/>
            <a:ext cx="4114800" cy="137160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73168" y="28254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773168" y="3063240"/>
            <a:ext cx="3886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사이트: 글자로, 첫 화면에 신청 칸, 분쟁 페이지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10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수임 여부, 광고 뒤 신청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" y="4279392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 2014-11 ~ 2026-10-05, 2,895건(스팸 254건 제외). *2026은 10-05까지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수임률 10~20% × 출원 수수료 300만 원.  목표 = 신청률이 2020년 4.6%로 돌아오면 지금 방문(3,812)으로 177건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유입 경로별 방문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9834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0" y="777240"/>
            <a:ext cx="32918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광고·등록 중단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 재개 검토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노출 방식 변화로 추정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읽을거리 있는 글로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그림이라 검색에 안 잡힘(추정)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사이트는 글자로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서버 관리자 접속자통계(도메인별·OS별) 2015 ~ 2026-10-06. 감소율은 2020 → 2022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전처리: 봇은 OS(Robot·Linux)로 뺌. *다 못 뺀 해(2016·17·19·25·26)는 연한 회색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85800"/>
            <a:ext cx="4434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8개('특허'·'변리사' 등 한 단어)가 차지하는 몫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896112"/>
          <a:ext cx="4572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74920" y="777240"/>
            <a:ext cx="3703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26%, 클릭률 0.06% vs 구체적 검색어 0.50% (피셔 정확검정, 우연일 확률 0.1% 미만)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확장검색 (네이버가 비슷한 말에 붙인 광고)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등록한 말 0.61% vs 확장 0.32%, 2배 차이 (같은 검정, 포괄 검색어 제외)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74920" y="2926080"/>
            <a:ext cx="3703320" cy="118872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66360" y="2990088"/>
            <a:ext cx="35204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일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입찰 낮추기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엉뚱한 검색어 막기(제외 키워드)</a:t>
            </a:r>
            <a:endParaRPr lang="en-US" sz="10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뒤 신청 추적 켜기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광고 검색어 보고서 2026-07-06 ~ 10-03(90일), 27,277행(보고서 제목 줄 제거)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클릭 뒤 신청은 안 잡힘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1148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4.6%(2020) → 2.1%(2022)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당시 이유는 기록이 없어 모름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지금: 광고 방문 중앙값 18초, 27%가 5초 안에 나감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새 사이트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</a:t>
            </a:r>
            <a:endParaRPr lang="en-US" sz="105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3246120" y="1005840"/>
          <a:ext cx="2651760" cy="1645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329184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없음(기억으로 10건 중 1~2건)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번호만 남김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329184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신청마다 수임 여부 기록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035040" y="685800"/>
            <a:ext cx="2743200" cy="3520440"/>
          </a:xfrm>
          <a:prstGeom prst="rect">
            <a:avLst/>
          </a:prstGeom>
          <a:solidFill>
            <a:srgbClr val="F3F5F4"/>
          </a:solidFill>
          <a:ln w="12700">
            <a:solidFill>
              <a:srgbClr val="DFE3E2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126480" y="73152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1051560"/>
            <a:ext cx="2468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8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300만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1100" dirty="0"/>
          </a:p>
          <a:p>
            <a:pPr indent="0" marL="0">
              <a:buNone/>
            </a:pPr>
            <a:r>
              <a:rPr lang="en-US" sz="6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800" b="1" dirty="0">
                <a:solidFill>
                  <a:srgbClr val="C8372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2,000만 원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6126480" y="269748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분쟁은 건수는 적지만 건당 수임료가 7배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126480" y="36576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전용 페이지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65760" y="4288536"/>
            <a:ext cx="841248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6576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신청 알림 문자, 신청 게시판 2,141건(스팸·잘못된 번호 33건 제외), 서버 방문(슬라이드 2), GA4 광고 유입 120세션(2026-09), 수수료는 사무소 수가</a:t>
            </a:r>
            <a:endParaRPr lang="en-US" sz="7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700" dirty="0">
                <a:solidFill>
                  <a:srgbClr val="5D6B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*2025·26은 방문 추정 신뢰 낮음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858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무엇을 하면 무엇이 움직이나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60120"/>
          <a:ext cx="84124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22960"/>
                <a:gridCol w="4663440"/>
                <a:gridCol w="22860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2·4장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사이트(글자·첫 화면 신청 칸·분쟁 페이지) 완성, 변리사 확인 후 공개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낮추기, 엉뚱한 검색어 막기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네이버 광고 신청 추적 켜기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검색어별 신청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읽을거리 있는 글로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A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65760" y="28346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3090672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감소 원인은 추정  /  경로별 방문은 연도 합계  /  신청 뒤(전화·수임) 데이터 없음  /  광고는 클릭까지만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65760" y="3474720"/>
            <a:ext cx="8412480" cy="347472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5488" y="347472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39319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1000" dirty="0">
                <a:solidFill>
                  <a:srgbClr val="1C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64608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D6B7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랜딩페이지 리뉴얼 — 데이터 분석</dc:title>
  <dc:subject>PptxGenJS Presentation</dc:subject>
  <dc:creator>PptxGenJS</dc:creator>
  <cp:lastModifiedBy>PptxGenJS</cp:lastModifiedBy>
  <cp:revision>1</cp:revision>
  <dcterms:created xsi:type="dcterms:W3CDTF">2026-10-15T06:52:36Z</dcterms:created>
  <dcterms:modified xsi:type="dcterms:W3CDTF">2026-10-15T06:52:36Z</dcterms:modified>
</cp:coreProperties>
</file>