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D5DBD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0</c:v>
                </c:pt>
                <c:pt idx="6">
                  <c:v>163</c:v>
                </c:pt>
                <c:pt idx="7">
                  <c:v>0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2020·2022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308</c:v>
                </c:pt>
                <c:pt idx="6">
                  <c:v>0</c:v>
                </c:pt>
                <c:pt idx="7">
                  <c:v>72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B4BDC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F1F3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0F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8개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9,375개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신청률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D5DBDE"/>
            </a:solidFill>
            <a:ln w="25400" cap="flat">
              <a:solidFill>
                <a:srgbClr val="D5DBD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5DBDE"/>
              </a:solidFill>
              <a:ln w="9525" cap="flat">
                <a:solidFill>
                  <a:srgbClr val="D5DBD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번호만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상세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랜딩페이지 리뉴얼 — 데이터 분석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신청이 2년 만에 4분의 1로 — 원인은 방문 절반, 신청률 절반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910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308건</a:t>
            </a:r>
            <a:pPr indent="0" marL="0">
              <a:buNone/>
            </a:pPr>
            <a:r>
              <a:rPr lang="en-US" sz="12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(2020)  →  </a:t>
            </a:r>
            <a:pPr indent="0" marL="0">
              <a:buNone/>
            </a:pPr>
            <a:r>
              <a:rPr lang="en-US" sz="2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72건</a:t>
            </a:r>
            <a:pPr indent="0" marL="0">
              <a:buNone/>
            </a:pPr>
            <a:r>
              <a:rPr lang="en-US" sz="12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(2022)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4825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신청 수. 그 뒤로 연 100건 안팎에서 회복 안 됨</a:t>
            </a:r>
            <a:endParaRPr lang="en-US" sz="10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886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1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0" y="1353312"/>
            <a:ext cx="0" cy="292608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49240" y="135331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1591056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</a:t>
            </a:r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  신청률 </a:t>
            </a:r>
            <a:pPr indent="0" marL="0">
              <a:buNone/>
            </a:pPr>
            <a:r>
              <a:rPr lang="en-US" sz="24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202996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236건의 몫 (셰이플리 분해)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349240" y="228600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끊김, 광고는 원인 아님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8개가 광고비 26%, 클릭률 1/8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신청 뒤는 기록 없음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49240" y="3246120"/>
            <a:ext cx="54864" cy="100584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13832" y="3246120"/>
            <a:ext cx="3172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513832" y="3493008"/>
            <a:ext cx="3172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뒤 신청 추적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4462272"/>
            <a:ext cx="8229600" cy="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방문(2024년 3,812)으로 177건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유입경로별 방문자수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신청이 준 2020→2022년, 끊긴 건 광고 밖 경로였다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914400"/>
          <a:ext cx="52120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2724912" y="1005840"/>
            <a:ext cx="1161288" cy="28163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A400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2724912" y="1024128"/>
            <a:ext cx="1161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9144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 </a:t>
            </a:r>
            <a:pPr indent="0" marL="0">
              <a:buNone/>
            </a:pPr>
            <a:r>
              <a:rPr lang="en-US" sz="15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−99%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806440" y="11887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806440" y="151790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783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07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 </a:t>
            </a:r>
            <a:pPr indent="0" marL="0">
              <a:buNone/>
            </a:pPr>
            <a:r>
              <a:rPr lang="en-US" sz="1500" b="1" dirty="0">
                <a:solidFill>
                  <a:srgbClr val="B07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−93%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2057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네이버 노출 방식 변화로 추정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238658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A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 </a:t>
            </a:r>
            <a:pPr indent="0" marL="0">
              <a:buNone/>
            </a:pPr>
            <a:r>
              <a:rPr lang="en-US" sz="1500" b="1" dirty="0">
                <a:solidFill>
                  <a:srgbClr val="2E8A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−54%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330098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806440" y="3566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−40%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806440" y="3840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남은 방문의 3분의 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4462272"/>
            <a:ext cx="8229600" cy="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직접 유입에서 봇(OS가 Robot·Linux)을 뺌. *다 못 뺀 해(2016·17·19·25·26)는 연한 회색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방문자수 — 네이버 광고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4분의 1이 거의 안 눌리는 검색어 8개에 쓰인다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</a:t>
            </a:r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('특허'·'변리사' 등 한 단어)     </a:t>
            </a:r>
            <a:pPr indent="0" marL="0">
              <a:buNone/>
            </a:pPr>
            <a:r>
              <a:rPr lang="en-US" sz="950" dirty="0">
                <a:solidFill>
                  <a:srgbClr val="C9D1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</a:t>
            </a:r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검색어 9,375개</a:t>
            </a:r>
            <a:endParaRPr lang="en-US" sz="9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48463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40680" y="914400"/>
            <a:ext cx="0" cy="342900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9144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11521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2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6420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vs 구체적 검색어. 8배 차이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8366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피셔 정확검정, 우연일 확률 0.1% 미만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69280" y="2286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252374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0.32%</a:t>
            </a:r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직접 등록한 말 </a:t>
            </a:r>
            <a:pPr indent="0" marL="0">
              <a:buNone/>
            </a:pPr>
            <a:r>
              <a:rPr lang="en-US" sz="16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0.61%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8346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절반만 눌림. 포괄 검색어를 빼고 비교, 같은 검정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0" y="3200400"/>
            <a:ext cx="54864" cy="109728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33872" y="3200400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833872" y="3456432"/>
            <a:ext cx="2852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462272"/>
            <a:ext cx="8229600" cy="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방문당 신청률 · 수임 전환율 · 수임당 매출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신청률은 반토막, 신청 뒤는 기록조차 없다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166110" y="914400"/>
            <a:ext cx="0" cy="338328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77890" y="914400"/>
            <a:ext cx="0" cy="338328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91440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5214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544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2022. 연도별 신청률(%)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783080"/>
          <a:ext cx="26974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당시 이유는 기록 없음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지금: 광고 방문 중앙값 18초, 27%가 5초 안에 나감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005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268980" y="91440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268980" y="115214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3268980" y="15544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기억으로 10건 중 1~2건. 대신 본 것: 신청 형태(건)</a:t>
            </a:r>
            <a:endParaRPr lang="en-US" sz="9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3223260" y="1783080"/>
          <a:ext cx="26974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3268980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전화번호만 남김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뒤는 전화라 사이트 밖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268980" y="4005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080760" y="91440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080760" y="115214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출원의 7배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6080760" y="15544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수수료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172200" y="1828800"/>
            <a:ext cx="2423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건수는 적지만 한 건이 7배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080760" y="4005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7200" y="4462272"/>
            <a:ext cx="8229600" cy="0"/>
          </a:xfrm>
          <a:prstGeom prst="line">
            <a:avLst/>
          </a:prstGeom>
          <a:noFill/>
          <a:ln w="12700">
            <a:solidFill>
              <a:srgbClr val="E3E7E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GA4 광고 유입 120세션(2026-09), 수수료는 사무소 수가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낮음(회색)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해야 할 것과 한계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사이트로 신청률을 4.6%까지 — 연 150건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22960"/>
                <a:gridCol w="4572000"/>
                <a:gridCol w="219456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A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A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A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A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2·4장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3E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724912"/>
            <a:ext cx="8229600" cy="56692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72491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 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신청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105건 → 150건</a:t>
            </a:r>
            <a:pPr indent="0" marL="0">
              <a:buNone/>
            </a:pPr>
            <a:r>
              <a:rPr lang="en-US" sz="90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(2024년 → 2020년 수준)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393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·  경로별 방문은 연도 합계  ·  신청 뒤(전화·수임) 데이터 없음  ·  광고는 클릭까지만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950208"/>
            <a:ext cx="8229600" cy="310896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95020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50" dirty="0">
                <a:solidFill>
                  <a:srgbClr val="6B7A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A8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2026-10-15T07:04:50Z</dcterms:created>
  <dcterms:modified xsi:type="dcterms:W3CDTF">2026-10-15T07:04:50Z</dcterms:modified>
</cp:coreProperties>
</file>