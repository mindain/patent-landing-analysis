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7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평소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22</c:v>
                </c:pt>
                <c:pt idx="1">
                  <c:v>14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  <c:pt idx="5">
                  <c:v>12</c:v>
                </c:pt>
                <c:pt idx="6">
                  <c:v>23</c:v>
                </c:pt>
                <c:pt idx="7">
                  <c:v>12</c:v>
                </c:pt>
                <c:pt idx="8">
                  <c:v>10</c:v>
                </c:pt>
                <c:pt idx="9">
                  <c:v>22</c:v>
                </c:pt>
                <c:pt idx="10">
                  <c:v>19</c:v>
                </c:pt>
                <c:pt idx="11">
                  <c:v>31</c:v>
                </c:pt>
                <c:pt idx="12">
                  <c:v>25</c:v>
                </c:pt>
                <c:pt idx="13">
                  <c:v>26</c:v>
                </c:pt>
                <c:pt idx="14">
                  <c:v>28</c:v>
                </c:pt>
                <c:pt idx="15">
                  <c:v>25</c:v>
                </c:pt>
                <c:pt idx="16">
                  <c:v>32</c:v>
                </c:pt>
                <c:pt idx="17">
                  <c:v>28</c:v>
                </c:pt>
                <c:pt idx="18">
                  <c:v>23</c:v>
                </c:pt>
                <c:pt idx="19">
                  <c:v>26</c:v>
                </c:pt>
                <c:pt idx="20">
                  <c:v>21</c:v>
                </c:pt>
                <c:pt idx="21">
                  <c:v>15</c:v>
                </c:pt>
                <c:pt idx="22">
                  <c:v>23</c:v>
                </c:pt>
                <c:pt idx="23">
                  <c:v>19</c:v>
                </c:pt>
                <c:pt idx="24">
                  <c:v>19</c:v>
                </c:pt>
                <c:pt idx="25">
                  <c:v>19</c:v>
                </c:pt>
                <c:pt idx="26">
                  <c:v>20</c:v>
                </c:pt>
                <c:pt idx="27">
                  <c:v>20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13</c:v>
                </c:pt>
                <c:pt idx="45">
                  <c:v>8</c:v>
                </c:pt>
                <c:pt idx="46">
                  <c:v>4</c:v>
                </c:pt>
                <c:pt idx="47">
                  <c:v>4</c:v>
                </c:pt>
                <c:pt idx="48">
                  <c:v>3</c:v>
                </c:pt>
                <c:pt idx="49">
                  <c:v>8</c:v>
                </c:pt>
                <c:pt idx="50">
                  <c:v>2</c:v>
                </c:pt>
                <c:pt idx="51">
                  <c:v>9</c:v>
                </c:pt>
                <c:pt idx="52">
                  <c:v>10</c:v>
                </c:pt>
                <c:pt idx="53">
                  <c:v>13</c:v>
                </c:pt>
                <c:pt idx="54">
                  <c:v>5</c:v>
                </c:pt>
                <c:pt idx="55">
                  <c:v>8</c:v>
                </c:pt>
                <c:pt idx="56">
                  <c:v>6</c:v>
                </c:pt>
                <c:pt idx="57">
                  <c:v>7</c:v>
                </c:pt>
                <c:pt idx="58">
                  <c:v>10</c:v>
                </c:pt>
                <c:pt idx="59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첫 꺾임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13</c:v>
                </c:pt>
                <c:pt idx="29">
                  <c:v>13</c:v>
                </c:pt>
                <c:pt idx="30">
                  <c:v>13</c:v>
                </c:pt>
                <c:pt idx="31">
                  <c:v>12</c:v>
                </c:pt>
                <c:pt idx="32">
                  <c:v>9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둘째 꺾임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Sheet1!$A$2:$A$61</c:f>
              <c:multiLvlStrCache>
                <c:ptCount val="60"/>
                <c:lvl>
                  <c:pt idx="0">
                    <c:v>2019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2020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2021</c:v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>2022</c:v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>2023</c:v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</c:lvl>
              </c:multiLvlStrCache>
            </c:multiLvlStrRef>
          </c:cat>
          <c:val>
            <c:numRef>
              <c:f>Sheet1!$D$2:$D$61</c:f>
              <c:numCache>
                <c:formatCode>General</c:formatCode>
                <c:ptCount val="6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5</c:v>
                </c:pt>
                <c:pt idx="34">
                  <c:v>3</c:v>
                </c:pt>
                <c:pt idx="35">
                  <c:v>7</c:v>
                </c:pt>
                <c:pt idx="36">
                  <c:v>9</c:v>
                </c:pt>
                <c:pt idx="37">
                  <c:v>4</c:v>
                </c:pt>
                <c:pt idx="38">
                  <c:v>3</c:v>
                </c:pt>
                <c:pt idx="39">
                  <c:v>7</c:v>
                </c:pt>
                <c:pt idx="40">
                  <c:v>5</c:v>
                </c:pt>
                <c:pt idx="41">
                  <c:v>2</c:v>
                </c:pt>
                <c:pt idx="42">
                  <c:v>3</c:v>
                </c:pt>
                <c:pt idx="43">
                  <c:v>8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9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972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3502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554480"/>
          <a:ext cx="48920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40680" y="10972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335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1938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579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4871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3291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351129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236건 분해는 셰이플리(떼는 순서에 따라 36~71%라 평균)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검색이다. 광고는 가장 덜 줄었다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 경로별 연간 방문 (서버 기록. 추이로만 봄)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472184" y="1216152"/>
            <a:ext cx="1106424" cy="1673352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72184" y="1069848"/>
            <a:ext cx="1106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" y="1097280"/>
          <a:ext cx="420624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663440" y="6583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2021년 5월에 한 번, 10월에 다시 꺾였다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896112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신청 건수 (게시판, 2019-01 ~ 2023-12) · 10월은 네이버 검색 개편과 같은 달</a:t>
            </a:r>
            <a:endParaRPr lang="en-US" sz="8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590288" y="1097280"/>
          <a:ext cx="416052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663440" y="3127248"/>
            <a:ext cx="4069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07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2021-05  </a:t>
            </a:r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20 → 13건</a:t>
            </a:r>
            <a:pPr indent="0" marL="0">
              <a:buNone/>
            </a:pPr>
            <a:r>
              <a:rPr lang="en-US" sz="8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2021-10  </a:t>
            </a:r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13 → 5건 이하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11480" y="3401568"/>
            <a:ext cx="45720" cy="987552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2120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2120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광고·등록 중단 (확인된 원인)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2120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다음(카카오) 재개 검토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514600" y="3401568"/>
            <a:ext cx="45720" cy="987552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62432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62432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318·322건). 실적 나열 글 + 네이버 노출 방식 변화로 추정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262432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 내용이 있는 글로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4617720" y="3401568"/>
            <a:ext cx="45720" cy="987552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2744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72744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전부 이미지라 검색엔진이 못 읽음 + 네이버 개편(추정)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472744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글자를 텍스트로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720840" y="3401568"/>
            <a:ext cx="45720" cy="987552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30568" y="340156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30568" y="3630168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아님. 지금 실제 방문의 3분의 2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6830568" y="416052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랜딩은 광고 방문자·휴대폰 기준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접속자통계(도메인별) 2016 ~ 2026-10-06, 게시판 글 날짜(스팸·형식 오류 제외). 경로 비교는 "직접"(봇 대부분) 제외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방문(OS Robot·Linux 제외): 11,253(2015) → 6,648(2020) → 3,397(2022).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2,000원 안팎(지역명만 706원)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115568"/>
          <a:ext cx="484632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0" y="65836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8961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37160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26%(192,641원)를 쓰고 클릭은 20%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클릭당 비용은 같음(2,547원 대 2,434원). 피셔, 우연일 확률 0.1% 미만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86400" y="2697480"/>
            <a:ext cx="3246120" cy="169164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96128" y="2761488"/>
            <a:ext cx="30266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특허·특허법인·변리사·특허사무소 입찰 낮추거나 제외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성적 나쁜 그룹부터 끔, "변리사파견" 등 무관 노출 정리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키워드(클릭률 1.9%, 클릭당 706원, 변리사 선호)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심사관출신 그룹(클릭률 1위, 비용 2.5%)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10-03(90일), 27,277행. 검색어 9,383개를 글자 규칙으로 유형 분류(클릭 난 231개는 검산)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39547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265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429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2618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499616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38328" y="1664208"/>
          <a:ext cx="353872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34747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읽고 나서 신청하지 않음(Clarity 5건 중 4건이 20~34초 읽고 폼 접촉 0)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390448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6583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8778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69080" y="12618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→ 신청 4명 → 수임 1건 미만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14996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90일 (2026-07-06 ~ 10-03)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069080" y="1709928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60520" y="17099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노출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9592" y="191109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0.2%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4069080" y="2139696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13969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= 방문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5879592" y="23408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3.9%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069080" y="2569464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160520" y="256946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9592" y="2770632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10~20%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069080" y="2999232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60520" y="2999232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1건당 광고비 24만~98만 원, 수수료 300만의 8~33% → 어느 경우든 광고는 남음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406908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기록, 번호 클릭 기록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7040880" y="65836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040880" y="102412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2487168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머묾(5초 이탈 36%) → 페이지 문제 가능성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분쟁의 79%가 번호만, 변리사: 분쟁은 전화·소개가 주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39044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GA4 광고 유입 120세션(2026-09-02 ~ 10-01), Clarity 녹화 5건, 네이버 광고 보고서 90일, 신청 게시판 2,141건(스팸·형식 오류 33건 제외), 변리사 답(수임률·수수료)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13232"/>
          <a:ext cx="83210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4846320"/>
                <a:gridCol w="201168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1·2장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사이트(텍스트·첫 화면 신청 칸·분쟁 페이지·휴대폰), 변리사 확인 뒤 공개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지방 키워드 늘리기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5-1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전환 추적 설치(신청함, 승인 대기)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542032"/>
            <a:ext cx="8321040" cy="530352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6072" y="2542032"/>
            <a:ext cx="79918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방문으로 연 177건  →  목표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318211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3401568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 · 2021년 원인: 다음 중단만 확인, 블로그·검색은 추정</a:t>
            </a:r>
            <a:endParaRPr lang="en-US" sz="9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수임률·수수료는 기억에 의한 대략의 값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11480" y="4114800"/>
            <a:ext cx="8321040" cy="292608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1208" y="4114800"/>
            <a:ext cx="8101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2026-10-15T07:48:39Z</dcterms:created>
  <dcterms:modified xsi:type="dcterms:W3CDTF">2026-10-15T07:48:39Z</dcterms:modified>
</cp:coreProperties>
</file>